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embeddedFontLst>
    <p:embeddedFont>
      <p:font typeface="Noto Sans KR"/>
      <p:regular r:id="rId17"/>
      <p:bold r:id="rId18"/>
    </p:embeddedFont>
    <p:embeddedFont>
      <p:font typeface="Roboto Mono SemiBold"/>
      <p:regular r:id="rId19"/>
      <p:bold r:id="rId20"/>
      <p:italic r:id="rId21"/>
      <p:boldItalic r:id="rId22"/>
    </p:embeddedFont>
    <p:embeddedFont>
      <p:font typeface="Helvetica Neue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Sv03wo1FDzk8IesJrNMMISknA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B786588-CDBD-4EBA-8597-55FA448F71B9}">
  <a:tblStyle styleId="{3B786588-CDBD-4EBA-8597-55FA448F71B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SemiBold-bold.fntdata"/><Relationship Id="rId22" Type="http://schemas.openxmlformats.org/officeDocument/2006/relationships/font" Target="fonts/RobotoMonoSemiBold-boldItalic.fntdata"/><Relationship Id="rId21" Type="http://schemas.openxmlformats.org/officeDocument/2006/relationships/font" Target="fonts/RobotoMonoSemiBold-italic.fntdata"/><Relationship Id="rId24" Type="http://schemas.openxmlformats.org/officeDocument/2006/relationships/font" Target="fonts/HelveticaNeue-bold.fntdata"/><Relationship Id="rId23" Type="http://schemas.openxmlformats.org/officeDocument/2006/relationships/font" Target="fonts/HelveticaNeu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boldItalic.fntdata"/><Relationship Id="rId25" Type="http://schemas.openxmlformats.org/officeDocument/2006/relationships/font" Target="fonts/HelveticaNeue-italic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otoSansKR-regular.fntdata"/><Relationship Id="rId16" Type="http://schemas.openxmlformats.org/officeDocument/2006/relationships/slide" Target="slides/slide11.xml"/><Relationship Id="rId19" Type="http://schemas.openxmlformats.org/officeDocument/2006/relationships/font" Target="fonts/RobotoMonoSemiBold-regular.fntdata"/><Relationship Id="rId18" Type="http://schemas.openxmlformats.org/officeDocument/2006/relationships/font" Target="fonts/NotoSansK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1 · 표지] (약 25초)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서비스명 STEP GUARD 와 팀 3인을 소개한다.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오프닝: 출퇴근길 에스컬레이터가 멈추면 기계 한 대의 문제가 통로 혼잡과 시민 불편으로 이어진다.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고장이 난 뒤 일정을 바꾸는 대신, 상황에 맞는 점검을 미리 분류하고 근무 가능한 팀까지 연결할 수 없을까?</a:t>
            </a:r>
            <a:b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한 줄 메시지: 모든 시설을 같은 방식으로 점검하지 않고, 상황에 맞는 점검과 팀을 먼저 연결한다.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2 · 배경과 문제] (약 25초)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대중교통 출퇴근 중 에스컬레이터 점검·운행 중단으로 불편을 직접 경험했다.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같은 시설도 현재 이상 여부, 계절, 설치 환경에 따라 필요한 점검이 다르다.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점검 종류별로 수행 주체와 필요 자격이 다르고, 긴급상황이 생기면 근무조를 다시 조정해야 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핵심 문제: 제한된 인력으로 무엇을·언제·누가 점검할지 빠르게 정하기 어렵다.</a:t>
            </a:r>
            <a:endParaRPr/>
          </a:p>
        </p:txBody>
      </p:sp>
      <p:sp>
        <p:nvSpPr>
          <p:cNvPr id="40" name="Google Shape;4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3 · 세 가지 점검 체계] (약 35초)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핵심: 상황에 맞춰 점검 방법과 담당 주체가 다르다.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긴급점검 — 실시간 이상·반복고장에 즉시 대응, 현재 교대 점검조가 수행.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수시특별점검 — 해빙기·장마철 취약환경에 대비, 합동점검단이나 자체 관리 주체가 수행.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자체점검 — 점검일 도래·소모품 관리 목적, 유지관리 자격 기술자가 수행.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여러 조건이 겹치면 긴급 &gt; 수시특별 &gt; 자체 순으로 대표 유형을 정한다.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7 · Agent 간 결과 전달] (약 40초 · 발표 핵심)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시설정보·고장이력이 ① 기계 분석으로, 이용객패턴이 ② 이용객 분석으로 들어간다.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서로 다른 문제를 본 ①과 ②의 결과는 ③ 점검 분류에서 처음으로 합쳐진다.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③에는 특별점검 기준과 자체점검 예정일이 추가로 들어가 3종으로 분류된다.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④ 현장 일정은 작업자 35명·운영규칙 11개를 받아 다음 달 날짜로 배정한다.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최종 출력은 긴급·수시특별·자체점검 일정과 인력운영안, 총 CSV 4종이다.</a:t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6 · Agent 역할 구성] (약 40초)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왜 → 언제 → 무엇부터 → 누가 순서로 네 Agent가 이어진다.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03 Agent가 시설을 긴급·수시특별·자체 세 종류로 분류한다.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역할을 분리한 이유: 이용객이 많다고 기계가 더 쉽게 고장 난다고 판단하면 안 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기계 Agent는 시설만, 이용객 Agent는 사람의 이동만 본다. 두 결과는 분류 Agent가 처음으로 합친다.</a:t>
            </a:r>
            <a:endParaRPr/>
          </a:p>
        </p:txBody>
      </p:sp>
      <p:sp>
        <p:nvSpPr>
          <p:cNvPr id="203" name="Google Shape;20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8 · 데이터와 운영조건] (약 40초)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입력은 표 형식 CSV 8종이다. 시설 5, 고장 11, 이용객 22, 작업자 35, 특별점검기준 2, 운영규칙 11.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작업자 35명은 고정 2인 1조 17개 조와 대체인력 1명으로, 주간·석간·야간 3교대로 운영한다.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각 교대에서 긴급대기조 1개를 남기고, 다른 역 사이 30분 이동시간과 피로도 규칙을 지킨다.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기준일 다음 달을 계획월로 잡아 2026-08의 실제 날짜(YYYY-MM-DD)로 일정을 만든다.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시설정보 전체가 아니라 각 Agent가 맡은 칼럼만 전달해 역할 범위를 지킨다.</a:t>
            </a:r>
            <a:endParaRPr/>
          </a:p>
        </p:txBody>
      </p:sp>
      <p:sp>
        <p:nvSpPr>
          <p:cNvPr id="248" name="Google Shape;24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5 · 이해관계자와 기대효과] (약 35초 · 발표 핵심)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운영기관은 이용객 영향이 큰 시설과 시간을 먼저 관리한다.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유지관리 책임자는 선정 근거가 포함된 점검 후보 목록을 받는다.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현장 관리자·점검자는 교대·피로도·이동시간을 반영한 일정 초안을 받는다.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기대효과 세 축: 고장 대응시간 단축 / 혼잡시간 비긴급 점검 감소 / 인력 업무 편차·규칙 위반 감소.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이 지표는 PoC에서 측정할 항목이며 아직 검증된 수치가 아니다.</a:t>
            </a:r>
            <a:endParaRPr/>
          </a:p>
        </p:txBody>
      </p:sp>
      <p:sp>
        <p:nvSpPr>
          <p:cNvPr id="285" name="Google Shape;28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9 · 테스트 설계와 확인사항] (약 25초)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ES-01 반복 발판 이상·실시간 이상, ES-04 운행 중 정지를 넣어 긴급점검 분류를 확인한다.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8월 계획월과 장마 노출 실외 시설(ES-02·ES-05)로 풍수해 수시특별점검 분류를 확인한다.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실시간 이상이 없고 점검일이 도래한 시설이 자체점검으로 분류되는지 확인한다.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3종 배정·중복·2인 이상·날짜 범위·교대별 대기조는 코드로 자동 확인한다.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분류 근거·자격자 포함·피로도 현실성은 사람이 확인한다. 성능은 현장 PoC로 검증한다.</a:t>
            </a:r>
            <a:endParaRPr/>
          </a:p>
        </p:txBody>
      </p:sp>
      <p:sp>
        <p:nvSpPr>
          <p:cNvPr id="317" name="Google Shape;31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10 · 결과와 제안] (약 25초)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실제 실행 결과는 긴급 2건, 수시특별 1건, 자체 2건과 인력운영안으로 나온다.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긴급점검 ES-01·ES-04는 반복고장으로 08-01·08-02에 2인 1조로 즉시 배정된다.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수시특별점검 ES-02는 장마 노출로 풍수해 대비, 자체점검 ES-03·ES-05는 비혼잡시간에 배정된다.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인력운영안은 점검일마다 주간 점검조 2개와 긴급대기조(D06·E06)를 함께 제시한다.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마무리: STEP GUARD는 점검자를 대신하는 AI가 아니라, 상황에 맞는 점검과 근무 가능한 팀을 빠르게 연결하는 AI 점검관리팀이다.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PoC 제안: 비식별 시설 30개와 1년 고장이력으로 분류 일치율·규칙 위반·작성시간을 비교 검증한다.</a:t>
            </a:r>
            <a:endParaRPr/>
          </a:p>
        </p:txBody>
      </p:sp>
      <p:sp>
        <p:nvSpPr>
          <p:cNvPr id="353" name="Google Shape;353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f5a80ba695_6_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f5a80ba695_6_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5a80ba695_17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g3f5a80ba695_17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[슬라이드 6 · Agent 역할 구성] (약 40초)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왜 → 언제 → 무엇부터 → 누가 순서로 네 Agent가 이어진다.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03 Agent가 시설을 긴급·수시특별·자체 세 종류로 분류한다.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역할을 분리한 이유: 이용객이 많다고 기계가 더 쉽게 고장 난다고 판단하면 안 된다.</a:t>
            </a:r>
            <a:b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기계 Agent는 시설만, 이용객 Agent는 사람의 이동만 본다. 두 결과는 분류 Agent가 처음으로 합친다.</a:t>
            </a:r>
            <a:endParaRPr/>
          </a:p>
        </p:txBody>
      </p:sp>
      <p:sp>
        <p:nvSpPr>
          <p:cNvPr id="396" name="Google Shape;396;g3f5a80ba695_17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stepguard.vercel.app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2F2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94360" y="1371600"/>
            <a:ext cx="749808" cy="54864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557784" y="1627632"/>
            <a:ext cx="6583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</a:pPr>
            <a:r>
              <a:rPr b="1" lang="en-US" sz="4200">
                <a:solidFill>
                  <a:srgbClr val="E06666"/>
                </a:solidFill>
                <a:latin typeface="Noto Sans KR"/>
                <a:ea typeface="Noto Sans KR"/>
                <a:cs typeface="Noto Sans KR"/>
                <a:sym typeface="Noto Sans KR"/>
              </a:rPr>
              <a:t>STEP</a:t>
            </a:r>
            <a:r>
              <a:rPr b="1" lang="en-US" sz="4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GUARD</a:t>
            </a:r>
            <a:endParaRPr sz="4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594360" y="2670048"/>
            <a:ext cx="63093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에스컬레이터 점검 분류·인력배치 AI 서비스</a:t>
            </a:r>
            <a:endParaRPr sz="1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594360" y="4974336"/>
            <a:ext cx="5852160" cy="0"/>
          </a:xfrm>
          <a:prstGeom prst="straightConnector1">
            <a:avLst/>
          </a:prstGeom>
          <a:noFill/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1"/>
          <p:cNvSpPr/>
          <p:nvPr/>
        </p:nvSpPr>
        <p:spPr>
          <a:xfrm>
            <a:off x="594360" y="5102352"/>
            <a:ext cx="59436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P131 최승우 · P137 황의진 · P105 권주현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94360" y="5431536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기획·총괄  ·  AI Agent 개발  ·  데이터·결과 화면 설계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611112" y="877824"/>
            <a:ext cx="4974336" cy="4974336"/>
          </a:xfrm>
          <a:prstGeom prst="ellipse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214616" y="1481328"/>
            <a:ext cx="3767328" cy="3767328"/>
          </a:xfrm>
          <a:prstGeom prst="ellipse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836408" y="2103120"/>
            <a:ext cx="2523744" cy="2523744"/>
          </a:xfrm>
          <a:prstGeom prst="ellipse">
            <a:avLst/>
          </a:prstGeom>
          <a:noFill/>
          <a:ln cap="flat" cmpd="sng" w="95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439912" y="2706624"/>
            <a:ext cx="1316736" cy="1316736"/>
          </a:xfrm>
          <a:prstGeom prst="ellipse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6611112" y="877824"/>
            <a:ext cx="4974336" cy="4974336"/>
          </a:xfrm>
          <a:prstGeom prst="arc">
            <a:avLst>
              <a:gd fmla="val 12240000" name="adj1"/>
              <a:gd fmla="val 18600000" name="adj2"/>
            </a:avLst>
          </a:prstGeom>
          <a:noFill/>
          <a:ln cap="flat" cmpd="sng" w="2540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214616" y="1481328"/>
            <a:ext cx="3767328" cy="3767328"/>
          </a:xfrm>
          <a:prstGeom prst="arc">
            <a:avLst>
              <a:gd fmla="val 1200000" name="adj1"/>
              <a:gd fmla="val 5520000" name="adj2"/>
            </a:avLst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836408" y="2103120"/>
            <a:ext cx="2523744" cy="2523744"/>
          </a:xfrm>
          <a:prstGeom prst="arc">
            <a:avLst>
              <a:gd fmla="val 8400000" name="adj1"/>
              <a:gd fmla="val 12600000" name="adj2"/>
            </a:avLst>
          </a:prstGeom>
          <a:noFill/>
          <a:ln cap="flat" cmpd="sng" w="1905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" name="Google Shape;25;p1"/>
          <p:cNvCxnSpPr/>
          <p:nvPr/>
        </p:nvCxnSpPr>
        <p:spPr>
          <a:xfrm>
            <a:off x="9749850" y="3655090"/>
            <a:ext cx="1570450" cy="699210"/>
          </a:xfrm>
          <a:prstGeom prst="straightConnector1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1"/>
          <p:cNvCxnSpPr/>
          <p:nvPr/>
        </p:nvCxnSpPr>
        <p:spPr>
          <a:xfrm flipH="1" rot="10800000">
            <a:off x="8346657" y="4043316"/>
            <a:ext cx="531222" cy="1634935"/>
          </a:xfrm>
          <a:prstGeom prst="straightConnector1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1"/>
          <p:cNvCxnSpPr/>
          <p:nvPr/>
        </p:nvCxnSpPr>
        <p:spPr>
          <a:xfrm>
            <a:off x="6812662" y="2533095"/>
            <a:ext cx="1615399" cy="587957"/>
          </a:xfrm>
          <a:prstGeom prst="straightConnector1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1"/>
          <p:cNvCxnSpPr/>
          <p:nvPr/>
        </p:nvCxnSpPr>
        <p:spPr>
          <a:xfrm flipH="1" rot="10800000">
            <a:off x="9318681" y="1051733"/>
            <a:ext cx="531222" cy="1634935"/>
          </a:xfrm>
          <a:prstGeom prst="straightConnector1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8169894" y="950095"/>
            <a:ext cx="155448" cy="155448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9975126" y="1004066"/>
            <a:ext cx="109728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10429535" y="4556829"/>
            <a:ext cx="137160" cy="137160"/>
          </a:xfrm>
          <a:prstGeom prst="ellipse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7416687" y="4256532"/>
            <a:ext cx="100584" cy="100584"/>
          </a:xfrm>
          <a:prstGeom prst="ellipse">
            <a:avLst/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7819969" y="2978959"/>
            <a:ext cx="118872" cy="118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10122513" y="2665476"/>
            <a:ext cx="137160" cy="137160"/>
          </a:xfrm>
          <a:prstGeom prst="ellipse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8979408" y="3246120"/>
            <a:ext cx="237744" cy="237744"/>
          </a:xfrm>
          <a:prstGeom prst="ellipse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99125" y="4584348"/>
            <a:ext cx="5943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판교 4반 4조 - 1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594360" y="411480"/>
            <a:ext cx="1100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01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BACKGROUND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94360" y="694944"/>
            <a:ext cx="1100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배경과 문제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6528935" y="2444496"/>
            <a:ext cx="4526400" cy="0"/>
          </a:xfrm>
          <a:prstGeom prst="straightConnector1">
            <a:avLst/>
          </a:prstGeom>
          <a:noFill/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6476750" y="2592249"/>
            <a:ext cx="5120700" cy="18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Noto Sans KR"/>
              <a:buChar char="•"/>
            </a:pPr>
            <a:r>
              <a:rPr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과거 고장이력과 현재 실시간 이상을 함께 확인해야 한다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Noto Sans KR"/>
              <a:buChar char="•"/>
            </a:pPr>
            <a:r>
              <a:rPr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장마·해빙기에는 평소와 다른 취약 부분을 살펴야 한다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Noto Sans KR"/>
              <a:buChar char="•"/>
            </a:pPr>
            <a:r>
              <a:rPr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점검 종류별 수행 주체와 필요한 자격이 다르다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Noto Sans KR"/>
              <a:buChar char="•"/>
            </a:pPr>
            <a:r>
              <a:rPr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긴급상황이 생기면 기존 일정과 근무조를 다시 조정해야 한다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50"/>
              <a:buFont typeface="Noto Sans KR"/>
              <a:buChar char="•"/>
            </a:pPr>
            <a:r>
              <a:rPr lang="en-US" sz="13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지역·경험·교대·피로도·이동시간을 동시에 고려하기 어렵다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754750" y="1728750"/>
            <a:ext cx="4891800" cy="3942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951225" y="1806400"/>
            <a:ext cx="2942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주제 선정 </a:t>
            </a:r>
            <a:r>
              <a:rPr b="1" lang="en-US" sz="2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배경</a:t>
            </a:r>
            <a:endParaRPr sz="15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08050" y="2428293"/>
            <a:ext cx="41541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227506" y="2519733"/>
            <a:ext cx="37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출퇴근 시간 고장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1227506" y="2794053"/>
            <a:ext cx="37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반복고장 · 갑작스러운 운행 중단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2" name="Google Shape;52;p2"/>
          <p:cNvCxnSpPr/>
          <p:nvPr/>
        </p:nvCxnSpPr>
        <p:spPr>
          <a:xfrm>
            <a:off x="3085110" y="3178101"/>
            <a:ext cx="0" cy="31080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3" name="Google Shape;53;p2"/>
          <p:cNvSpPr/>
          <p:nvPr/>
        </p:nvSpPr>
        <p:spPr>
          <a:xfrm>
            <a:off x="1008050" y="3507285"/>
            <a:ext cx="41541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1227506" y="3598725"/>
            <a:ext cx="37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통로 혼잡 확대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227506" y="3873045"/>
            <a:ext cx="37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이동 지연 · 병목 · 대기 증가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56" name="Google Shape;56;p2"/>
          <p:cNvCxnSpPr/>
          <p:nvPr/>
        </p:nvCxnSpPr>
        <p:spPr>
          <a:xfrm>
            <a:off x="3085110" y="4257093"/>
            <a:ext cx="0" cy="31080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7" name="Google Shape;57;p2"/>
          <p:cNvSpPr/>
          <p:nvPr/>
        </p:nvSpPr>
        <p:spPr>
          <a:xfrm>
            <a:off x="1008050" y="4586277"/>
            <a:ext cx="41541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1227506" y="4677717"/>
            <a:ext cx="37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불편 · 안전 부담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1227506" y="4970362"/>
            <a:ext cx="3715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불만과 위험이 함께 커진다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6476750" y="4696877"/>
            <a:ext cx="4526400" cy="836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6528925" y="4777427"/>
            <a:ext cx="42948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에스컬레이터 고장으로 인한 </a:t>
            </a:r>
            <a:r>
              <a:rPr b="1" lang="en-US" sz="1300">
                <a:solidFill>
                  <a:srgbClr val="FF0000"/>
                </a:solidFill>
                <a:latin typeface="Noto Sans KR"/>
                <a:ea typeface="Noto Sans KR"/>
                <a:cs typeface="Noto Sans KR"/>
                <a:sym typeface="Noto Sans KR"/>
              </a:rPr>
              <a:t>불편함</a:t>
            </a:r>
            <a:r>
              <a:rPr b="1" lang="en-US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을 낮추고 </a:t>
            </a:r>
            <a:endParaRPr b="1" sz="1300">
              <a:solidFill>
                <a:srgbClr val="6B7280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1155CC"/>
                </a:solidFill>
                <a:latin typeface="Noto Sans KR"/>
                <a:ea typeface="Noto Sans KR"/>
                <a:cs typeface="Noto Sans KR"/>
                <a:sym typeface="Noto Sans KR"/>
              </a:rPr>
              <a:t>효율적인 예방 점검</a:t>
            </a:r>
            <a:r>
              <a:rPr b="1" lang="en-US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을 지원하는 </a:t>
            </a:r>
            <a:r>
              <a:rPr b="1" lang="en-US" sz="1300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IT 솔루션 필요성 </a:t>
            </a:r>
            <a:endParaRPr b="1"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2" name="Google Shape;62;p2"/>
          <p:cNvCxnSpPr/>
          <p:nvPr/>
        </p:nvCxnSpPr>
        <p:spPr>
          <a:xfrm>
            <a:off x="594360" y="6382512"/>
            <a:ext cx="11002975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2"/>
          <p:cNvSpPr/>
          <p:nvPr/>
        </p:nvSpPr>
        <p:spPr>
          <a:xfrm>
            <a:off x="10500055" y="643737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476750" y="1748075"/>
            <a:ext cx="39189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현장의 어려움</a:t>
            </a:r>
            <a:endParaRPr b="1" sz="2500">
              <a:solidFill>
                <a:srgbClr val="1F2937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"/>
          <p:cNvSpPr/>
          <p:nvPr/>
        </p:nvSpPr>
        <p:spPr>
          <a:xfrm>
            <a:off x="594360" y="411480"/>
            <a:ext cx="11002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02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INSPECTION TYPES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594360" y="694944"/>
            <a:ext cx="1100297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세 가지 점검 체계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594360" y="1389888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: </a:t>
            </a:r>
            <a:r>
              <a:rPr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지하철 이용객 패턴과 고장 이력 데이터를 기반으로 사전 점검 방법과 담당 인력 및 스케줄을 </a:t>
            </a:r>
            <a:r>
              <a:rPr lang="en-US" sz="1600">
                <a:solidFill>
                  <a:srgbClr val="0000FF"/>
                </a:solidFill>
                <a:latin typeface="Noto Sans KR"/>
                <a:ea typeface="Noto Sans KR"/>
                <a:cs typeface="Noto Sans KR"/>
                <a:sym typeface="Noto Sans KR"/>
              </a:rPr>
              <a:t>제안</a:t>
            </a:r>
            <a:endParaRPr sz="1600">
              <a:solidFill>
                <a:srgbClr val="0000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594360" y="2029968"/>
            <a:ext cx="3423818" cy="3182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94360" y="2029968"/>
            <a:ext cx="3423818" cy="5029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2031949" y="2386584"/>
            <a:ext cx="548640" cy="493776"/>
          </a:xfrm>
          <a:prstGeom prst="triangle">
            <a:avLst>
              <a:gd fmla="val 50000" name="adj"/>
            </a:avLst>
          </a:prstGeom>
          <a:noFill/>
          <a:ln cap="flat" cmpd="sng" w="25400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285421" y="2574219"/>
            <a:ext cx="41697" cy="167884"/>
          </a:xfrm>
          <a:prstGeom prst="roundRect">
            <a:avLst>
              <a:gd fmla="val 43859" name="adj"/>
            </a:avLst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2278837" y="2781605"/>
            <a:ext cx="54864" cy="54864"/>
          </a:xfrm>
          <a:prstGeom prst="ellipse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777240" y="3054096"/>
            <a:ext cx="305805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긴급점검</a:t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13816" y="3566160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언제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1527048" y="3566160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이상 · 반복고장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2" name="Google Shape;82;p4"/>
          <p:cNvCxnSpPr/>
          <p:nvPr/>
        </p:nvCxnSpPr>
        <p:spPr>
          <a:xfrm>
            <a:off x="813816" y="3913632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4"/>
          <p:cNvSpPr/>
          <p:nvPr/>
        </p:nvSpPr>
        <p:spPr>
          <a:xfrm>
            <a:off x="813816" y="396849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527048" y="3968496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이상에 즉시 대응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5" name="Google Shape;85;p4"/>
          <p:cNvCxnSpPr/>
          <p:nvPr/>
        </p:nvCxnSpPr>
        <p:spPr>
          <a:xfrm>
            <a:off x="813816" y="4315968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813816" y="4370832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주체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527048" y="4370832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교대의 점검조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88" name="Google Shape;88;p4"/>
          <p:cNvCxnSpPr/>
          <p:nvPr/>
        </p:nvCxnSpPr>
        <p:spPr>
          <a:xfrm>
            <a:off x="813816" y="4718304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4"/>
          <p:cNvSpPr/>
          <p:nvPr/>
        </p:nvSpPr>
        <p:spPr>
          <a:xfrm>
            <a:off x="813816" y="4773168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527048" y="4773168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이상 신호 · 안전 항목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383938" y="2029968"/>
            <a:ext cx="3423818" cy="3182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383938" y="2029968"/>
            <a:ext cx="3423818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821528" y="2435962"/>
            <a:ext cx="548640" cy="395021"/>
          </a:xfrm>
          <a:prstGeom prst="arc">
            <a:avLst>
              <a:gd fmla="val 10800000" name="adj1"/>
              <a:gd fmla="val 21600000" name="adj2"/>
            </a:avLst>
          </a:prstGeom>
          <a:noFill/>
          <a:ln cap="flat" cmpd="sng" w="2857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" name="Google Shape;94;p4"/>
          <p:cNvCxnSpPr/>
          <p:nvPr/>
        </p:nvCxnSpPr>
        <p:spPr>
          <a:xfrm>
            <a:off x="5821528" y="2633472"/>
            <a:ext cx="548640" cy="0"/>
          </a:xfrm>
          <a:prstGeom prst="straightConnector1">
            <a:avLst/>
          </a:prstGeom>
          <a:noFill/>
          <a:ln cap="flat" cmpd="sng" w="1270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4"/>
          <p:cNvCxnSpPr/>
          <p:nvPr/>
        </p:nvCxnSpPr>
        <p:spPr>
          <a:xfrm>
            <a:off x="6095848" y="2633472"/>
            <a:ext cx="0" cy="260604"/>
          </a:xfrm>
          <a:prstGeom prst="straightConnector1">
            <a:avLst/>
          </a:prstGeom>
          <a:noFill/>
          <a:ln cap="flat" cmpd="sng" w="2222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/>
          <p:nvPr/>
        </p:nvSpPr>
        <p:spPr>
          <a:xfrm>
            <a:off x="5997092" y="2852928"/>
            <a:ext cx="98755" cy="109728"/>
          </a:xfrm>
          <a:prstGeom prst="arc">
            <a:avLst>
              <a:gd fmla="val 0" name="adj1"/>
              <a:gd fmla="val 10800000" name="adj2"/>
            </a:avLst>
          </a:prstGeom>
          <a:noFill/>
          <a:ln cap="flat" cmpd="sng" w="2222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566818" y="3054096"/>
            <a:ext cx="305805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수시특별점검</a:t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03394" y="3566160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언제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316626" y="3566160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해빙기 · 장마 취약환경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00" name="Google Shape;100;p4"/>
          <p:cNvCxnSpPr/>
          <p:nvPr/>
        </p:nvCxnSpPr>
        <p:spPr>
          <a:xfrm>
            <a:off x="4603394" y="3913632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4"/>
          <p:cNvSpPr/>
          <p:nvPr/>
        </p:nvSpPr>
        <p:spPr>
          <a:xfrm>
            <a:off x="4603394" y="396849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316626" y="3968496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계절 위험을 미리 보완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4603394" y="4315968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4603394" y="4370832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주체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316626" y="4370832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합동점검단 · 자체 관리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06" name="Google Shape;106;p4"/>
          <p:cNvCxnSpPr/>
          <p:nvPr/>
        </p:nvCxnSpPr>
        <p:spPr>
          <a:xfrm>
            <a:off x="4603394" y="4718304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" name="Google Shape;107;p4"/>
          <p:cNvSpPr/>
          <p:nvPr/>
        </p:nvSpPr>
        <p:spPr>
          <a:xfrm>
            <a:off x="4603394" y="4773168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316626" y="4773168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배수 · 차수판 · 누전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173517" y="2029968"/>
            <a:ext cx="3423818" cy="3182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173517" y="2029968"/>
            <a:ext cx="3423818" cy="5029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 rot="-2700000">
            <a:off x="9847021" y="2446934"/>
            <a:ext cx="76810" cy="373075"/>
          </a:xfrm>
          <a:prstGeom prst="roundRect">
            <a:avLst>
              <a:gd fmla="val 35714" name="adj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9600133" y="2348179"/>
            <a:ext cx="230429" cy="230429"/>
          </a:xfrm>
          <a:prstGeom prst="blockArc">
            <a:avLst>
              <a:gd fmla="val 18300000" name="adj1"/>
              <a:gd fmla="val 12900000" name="adj2"/>
              <a:gd fmla="val 21000" name="adj3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9940290" y="2688336"/>
            <a:ext cx="230429" cy="230429"/>
          </a:xfrm>
          <a:prstGeom prst="blockArc">
            <a:avLst>
              <a:gd fmla="val 7500000" name="adj1"/>
              <a:gd fmla="val 2100000" name="adj2"/>
              <a:gd fmla="val 21000" name="adj3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356397" y="3054096"/>
            <a:ext cx="305805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자체점검</a:t>
            </a:r>
            <a:endParaRPr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392973" y="3566160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언제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9106205" y="3566160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점검일 도래 · 소모품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8392973" y="3913632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8392973" y="3968496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목적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106205" y="3968496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오작동 예방 · 성능 유지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8392973" y="4315968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4"/>
          <p:cNvSpPr/>
          <p:nvPr/>
        </p:nvSpPr>
        <p:spPr>
          <a:xfrm>
            <a:off x="8392973" y="4370832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주체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9106205" y="4370832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유지관리 자격 기술자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8392973" y="4718304"/>
            <a:ext cx="2984906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4"/>
          <p:cNvSpPr/>
          <p:nvPr/>
        </p:nvSpPr>
        <p:spPr>
          <a:xfrm>
            <a:off x="8392973" y="4773168"/>
            <a:ext cx="7132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확인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9106205" y="4773168"/>
            <a:ext cx="227167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윤활 · 브레이크 · 센서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94360" y="5431536"/>
            <a:ext cx="11002975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868680" y="5431536"/>
            <a:ext cx="173736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분류가 겹칠 때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2697480" y="5431536"/>
            <a:ext cx="4572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긴급점검</a:t>
            </a:r>
            <a:r>
              <a:rPr lang="en-US" sz="15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&gt;  </a:t>
            </a:r>
            <a:r>
              <a:rPr b="1" lang="en-US" sz="15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수시특별점검</a:t>
            </a:r>
            <a:r>
              <a:rPr lang="en-US" sz="15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&gt;  </a:t>
            </a:r>
            <a:r>
              <a:rPr b="1" lang="en-US" sz="15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자체점검</a:t>
            </a:r>
            <a:endParaRPr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7360920" y="5431536"/>
            <a:ext cx="3962095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AI가 후보를 제시하고, 최종 점검 결정은 현장 책임자가 승인합니다.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594360" y="6382512"/>
            <a:ext cx="11002975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4"/>
          <p:cNvSpPr/>
          <p:nvPr/>
        </p:nvSpPr>
        <p:spPr>
          <a:xfrm>
            <a:off x="10500055" y="643737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/>
          <p:nvPr/>
        </p:nvSpPr>
        <p:spPr>
          <a:xfrm>
            <a:off x="594360" y="411480"/>
            <a:ext cx="11002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AGENT PIPELINE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94360" y="694944"/>
            <a:ext cx="1100297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구조도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68680" y="2487168"/>
            <a:ext cx="2514600" cy="91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68680" y="2487168"/>
            <a:ext cx="45720" cy="9144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069848" y="259689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01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069848" y="278892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기계 고장 분석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069848" y="309981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위험등급 · 반복고장</a:t>
            </a:r>
            <a:endParaRPr sz="9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868680" y="4041648"/>
            <a:ext cx="2514600" cy="91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868680" y="4041648"/>
            <a:ext cx="45720" cy="9144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069848" y="415137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02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1069848" y="434340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이용객 이용패턴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1069848" y="465429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혼잡 · 추천시간</a:t>
            </a:r>
            <a:endParaRPr sz="9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114800" y="3264408"/>
            <a:ext cx="2697480" cy="91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114800" y="3264408"/>
            <a:ext cx="45720" cy="9144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315968" y="3374136"/>
            <a:ext cx="2331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03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315968" y="3566160"/>
            <a:ext cx="23317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점검 종류·우선순위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315968" y="3877056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3종 분류 · 완료기한</a:t>
            </a:r>
            <a:endParaRPr sz="9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7360920" y="3264408"/>
            <a:ext cx="2514600" cy="914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360920" y="3264408"/>
            <a:ext cx="45720" cy="9144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7562088" y="3374136"/>
            <a:ext cx="2148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04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7562088" y="3566160"/>
            <a:ext cx="21488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점검 일정</a:t>
            </a:r>
            <a:endParaRPr sz="13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562088" y="3877056"/>
            <a:ext cx="2148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달 날짜 · 배정</a:t>
            </a:r>
            <a:endParaRPr sz="9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868680" y="223113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· 시설정보 · 고장이력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868680" y="378561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· 이용객패턴 22건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3840480" y="2670048"/>
            <a:ext cx="3246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+ 특별점검 기준 · 자체점검 예정일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3" name="Google Shape;163;p6"/>
          <p:cNvCxnSpPr/>
          <p:nvPr/>
        </p:nvCxnSpPr>
        <p:spPr>
          <a:xfrm>
            <a:off x="5458968" y="2926080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4" name="Google Shape;164;p6"/>
          <p:cNvCxnSpPr/>
          <p:nvPr/>
        </p:nvCxnSpPr>
        <p:spPr>
          <a:xfrm>
            <a:off x="8613648" y="4315968"/>
            <a:ext cx="0" cy="274320"/>
          </a:xfrm>
          <a:prstGeom prst="straightConnector1">
            <a:avLst/>
          </a:prstGeom>
          <a:noFill/>
          <a:ln cap="flat" cmpd="sng" w="12700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5" name="Google Shape;165;p6"/>
          <p:cNvSpPr/>
          <p:nvPr/>
        </p:nvSpPr>
        <p:spPr>
          <a:xfrm>
            <a:off x="7360920" y="462686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+ 작업자 35 · 운영규칙 11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66" name="Google Shape;166;p6"/>
          <p:cNvCxnSpPr/>
          <p:nvPr/>
        </p:nvCxnSpPr>
        <p:spPr>
          <a:xfrm>
            <a:off x="3383280" y="2944368"/>
            <a:ext cx="731520" cy="621792"/>
          </a:xfrm>
          <a:prstGeom prst="straightConnector1">
            <a:avLst/>
          </a:prstGeom>
          <a:noFill/>
          <a:ln cap="flat" cmpd="sng" w="1587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7" name="Google Shape;167;p6"/>
          <p:cNvCxnSpPr/>
          <p:nvPr/>
        </p:nvCxnSpPr>
        <p:spPr>
          <a:xfrm flipH="1" rot="10800000">
            <a:off x="3383280" y="3877056"/>
            <a:ext cx="731520" cy="621792"/>
          </a:xfrm>
          <a:prstGeom prst="straightConnector1">
            <a:avLst/>
          </a:prstGeom>
          <a:noFill/>
          <a:ln cap="flat" cmpd="sng" w="1587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6"/>
          <p:cNvCxnSpPr/>
          <p:nvPr/>
        </p:nvCxnSpPr>
        <p:spPr>
          <a:xfrm>
            <a:off x="6812280" y="3721608"/>
            <a:ext cx="548640" cy="0"/>
          </a:xfrm>
          <a:prstGeom prst="straightConnector1">
            <a:avLst/>
          </a:prstGeom>
          <a:noFill/>
          <a:ln cap="flat" cmpd="sng" w="15875">
            <a:solidFill>
              <a:srgbClr val="9CA3A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9" name="Google Shape;169;p6"/>
          <p:cNvCxnSpPr/>
          <p:nvPr/>
        </p:nvCxnSpPr>
        <p:spPr>
          <a:xfrm>
            <a:off x="9875520" y="3721608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A163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0" name="Google Shape;170;p6"/>
          <p:cNvSpPr/>
          <p:nvPr/>
        </p:nvSpPr>
        <p:spPr>
          <a:xfrm>
            <a:off x="4114800" y="4242816"/>
            <a:ext cx="2697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850"/>
              <a:buFont typeface="Arial"/>
              <a:buNone/>
            </a:pPr>
            <a:r>
              <a:rPr lang="en-US" sz="85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① ② 결과 결합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0058400" y="1993392"/>
            <a:ext cx="1536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1" lang="en-US" sz="8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출력 · CSV 4종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0058400" y="2286000"/>
            <a:ext cx="1536192" cy="71323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10058400" y="2286000"/>
            <a:ext cx="45720" cy="71323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0213848" y="2502713"/>
            <a:ext cx="310896" cy="279806"/>
          </a:xfrm>
          <a:prstGeom prst="triangle">
            <a:avLst>
              <a:gd fmla="val 50000" name="adj"/>
            </a:avLst>
          </a:prstGeom>
          <a:noFill/>
          <a:ln cap="flat" cmpd="sng" w="25400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0357482" y="2609039"/>
            <a:ext cx="23628" cy="95134"/>
          </a:xfrm>
          <a:prstGeom prst="roundRect">
            <a:avLst>
              <a:gd fmla="val 77400" name="adj"/>
            </a:avLst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0353751" y="2726558"/>
            <a:ext cx="31090" cy="31090"/>
          </a:xfrm>
          <a:prstGeom prst="ellipse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0607040" y="2377440"/>
            <a:ext cx="914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긴급점검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10058400" y="3127248"/>
            <a:ext cx="1536192" cy="71323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10058400" y="3127248"/>
            <a:ext cx="45720" cy="71323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0213848" y="3371941"/>
            <a:ext cx="310896" cy="223845"/>
          </a:xfrm>
          <a:prstGeom prst="arc">
            <a:avLst>
              <a:gd fmla="val 10800000" name="adj1"/>
              <a:gd fmla="val 21600000" name="adj2"/>
            </a:avLst>
          </a:prstGeom>
          <a:noFill/>
          <a:ln cap="flat" cmpd="sng" w="2857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6"/>
          <p:cNvCxnSpPr/>
          <p:nvPr/>
        </p:nvCxnSpPr>
        <p:spPr>
          <a:xfrm>
            <a:off x="10213848" y="3483864"/>
            <a:ext cx="310896" cy="0"/>
          </a:xfrm>
          <a:prstGeom prst="straightConnector1">
            <a:avLst/>
          </a:prstGeom>
          <a:noFill/>
          <a:ln cap="flat" cmpd="sng" w="1270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6"/>
          <p:cNvCxnSpPr/>
          <p:nvPr/>
        </p:nvCxnSpPr>
        <p:spPr>
          <a:xfrm>
            <a:off x="10369296" y="3483864"/>
            <a:ext cx="0" cy="147676"/>
          </a:xfrm>
          <a:prstGeom prst="straightConnector1">
            <a:avLst/>
          </a:prstGeom>
          <a:noFill/>
          <a:ln cap="flat" cmpd="sng" w="2222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6"/>
          <p:cNvSpPr/>
          <p:nvPr/>
        </p:nvSpPr>
        <p:spPr>
          <a:xfrm>
            <a:off x="10313335" y="3608222"/>
            <a:ext cx="55961" cy="62179"/>
          </a:xfrm>
          <a:prstGeom prst="arc">
            <a:avLst>
              <a:gd fmla="val 0" name="adj1"/>
              <a:gd fmla="val 10800000" name="adj2"/>
            </a:avLst>
          </a:prstGeom>
          <a:noFill/>
          <a:ln cap="flat" cmpd="sng" w="2222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0607040" y="3218688"/>
            <a:ext cx="914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수시특별점검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10058400" y="3968496"/>
            <a:ext cx="1536192" cy="71323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9CA3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0058400" y="3968496"/>
            <a:ext cx="45720" cy="713232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 rot="-2700000">
            <a:off x="10347533" y="4219407"/>
            <a:ext cx="43525" cy="211409"/>
          </a:xfrm>
          <a:prstGeom prst="roundRect">
            <a:avLst>
              <a:gd fmla="val 63026" name="adj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10207630" y="4163446"/>
            <a:ext cx="130576" cy="130576"/>
          </a:xfrm>
          <a:prstGeom prst="blockArc">
            <a:avLst>
              <a:gd fmla="val 18300000" name="adj1"/>
              <a:gd fmla="val 12900000" name="adj2"/>
              <a:gd fmla="val 21000" name="adj3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0400386" y="4356202"/>
            <a:ext cx="130576" cy="130576"/>
          </a:xfrm>
          <a:prstGeom prst="blockArc">
            <a:avLst>
              <a:gd fmla="val 7500000" name="adj1"/>
              <a:gd fmla="val 2100000" name="adj2"/>
              <a:gd fmla="val 21000" name="adj3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10607040" y="4059936"/>
            <a:ext cx="914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자체점검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058400" y="4809744"/>
            <a:ext cx="1536192" cy="713232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0058400" y="4809744"/>
            <a:ext cx="45720" cy="7132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10144815" y="5001768"/>
            <a:ext cx="759858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스케줄표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10804457" y="4892040"/>
            <a:ext cx="9144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인력운영안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94360" y="5596128"/>
            <a:ext cx="41148" cy="54864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795528" y="5596128"/>
            <a:ext cx="10801807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Sequential 실행  </a:t>
            </a:r>
            <a:r>
              <a:rPr b="1" lang="en-US" sz="10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0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Agent를 순서대로 실행하고, 서로 다른 문제를 본 ① ② 결과는 ③ 분류에서 처음 합쳐집니다. 정보가 부족하면 「추가 확인 필요」로 표시하고 최종 승인은 사람이 수행합니다.</a:t>
            </a:r>
            <a:endParaRPr sz="1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97" name="Google Shape;197;p6"/>
          <p:cNvCxnSpPr/>
          <p:nvPr/>
        </p:nvCxnSpPr>
        <p:spPr>
          <a:xfrm>
            <a:off x="594360" y="6382512"/>
            <a:ext cx="11002975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" name="Google Shape;198;p6"/>
          <p:cNvSpPr/>
          <p:nvPr/>
        </p:nvSpPr>
        <p:spPr>
          <a:xfrm>
            <a:off x="10500055" y="643737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06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91617" y="1378001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위험 판단에서 끝나지 않고, 다음 달 점검 일정까지 하나의 흐름으로 연결합니다.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2F2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"/>
          <p:cNvSpPr/>
          <p:nvPr/>
        </p:nvSpPr>
        <p:spPr>
          <a:xfrm>
            <a:off x="594360" y="411480"/>
            <a:ext cx="11002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04</a:t>
            </a:r>
            <a:r>
              <a:rPr lang="en-US" sz="10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 AGENT ARCHITECTURE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594360" y="694944"/>
            <a:ext cx="1100297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Agent 역할 구성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594360" y="1389888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네 개의 Agent가 </a:t>
            </a:r>
            <a:r>
              <a:rPr lang="en-US" sz="16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해당</a:t>
            </a:r>
            <a:r>
              <a:rPr lang="en-US" sz="16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역할을</a:t>
            </a:r>
            <a:r>
              <a:rPr lang="en-US" sz="16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담당합니다.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94400" y="2047738"/>
            <a:ext cx="2574600" cy="2423700"/>
          </a:xfrm>
          <a:prstGeom prst="rect">
            <a:avLst/>
          </a:prstGeom>
          <a:solidFill>
            <a:srgbClr val="3B3B3B"/>
          </a:solidFill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94400" y="2047738"/>
            <a:ext cx="2574600" cy="51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16415" y="2288254"/>
            <a:ext cx="2130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961"/>
              <a:buFont typeface="Helvetica Neue"/>
              <a:buNone/>
            </a:pPr>
            <a:r>
              <a:rPr b="1" lang="en-US" sz="961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01</a:t>
            </a:r>
            <a:endParaRPr sz="96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16415" y="2565773"/>
            <a:ext cx="21306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"/>
              <a:buFont typeface="Arial"/>
              <a:buNone/>
            </a:pPr>
            <a:r>
              <a:rPr b="1" lang="en-US" sz="172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왜 점검해야 하는가?</a:t>
            </a:r>
            <a:endParaRPr sz="172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13" name="Google Shape;213;p7"/>
          <p:cNvCxnSpPr/>
          <p:nvPr/>
        </p:nvCxnSpPr>
        <p:spPr>
          <a:xfrm>
            <a:off x="816415" y="3250319"/>
            <a:ext cx="2130600" cy="0"/>
          </a:xfrm>
          <a:prstGeom prst="straightConnector1">
            <a:avLst/>
          </a:prstGeom>
          <a:noFill/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7"/>
          <p:cNvSpPr/>
          <p:nvPr/>
        </p:nvSpPr>
        <p:spPr>
          <a:xfrm>
            <a:off x="816415" y="3324324"/>
            <a:ext cx="2130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5"/>
              <a:buFont typeface="Arial"/>
              <a:buNone/>
            </a:pPr>
            <a:r>
              <a:rPr b="1" lang="en-US" sz="126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기계 고장 분석 Agent</a:t>
            </a:r>
            <a:endParaRPr sz="126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16415" y="3638846"/>
            <a:ext cx="2130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고장이력 · 부품 · 설치연도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반복고장과 조치 후 재발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이용객 수는 보지 않음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446601" y="2047738"/>
            <a:ext cx="2574600" cy="2423700"/>
          </a:xfrm>
          <a:prstGeom prst="rect">
            <a:avLst/>
          </a:prstGeom>
          <a:solidFill>
            <a:srgbClr val="3B3B3B"/>
          </a:solidFill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446601" y="2047738"/>
            <a:ext cx="2574600" cy="51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3668616" y="2288254"/>
            <a:ext cx="2130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961"/>
              <a:buFont typeface="Helvetica Neue"/>
              <a:buNone/>
            </a:pPr>
            <a:r>
              <a:rPr b="1" lang="en-US" sz="961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02</a:t>
            </a:r>
            <a:endParaRPr sz="96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668616" y="2565773"/>
            <a:ext cx="21306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"/>
              <a:buFont typeface="Arial"/>
              <a:buNone/>
            </a:pPr>
            <a:r>
              <a:rPr b="1" lang="en-US" sz="172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언제 점검해야 하는가?</a:t>
            </a:r>
            <a:endParaRPr sz="172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20" name="Google Shape;220;p7"/>
          <p:cNvCxnSpPr/>
          <p:nvPr/>
        </p:nvCxnSpPr>
        <p:spPr>
          <a:xfrm>
            <a:off x="3668616" y="3250319"/>
            <a:ext cx="2130600" cy="0"/>
          </a:xfrm>
          <a:prstGeom prst="straightConnector1">
            <a:avLst/>
          </a:prstGeom>
          <a:noFill/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7"/>
          <p:cNvSpPr/>
          <p:nvPr/>
        </p:nvSpPr>
        <p:spPr>
          <a:xfrm>
            <a:off x="3668616" y="3324324"/>
            <a:ext cx="2130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5"/>
              <a:buFont typeface="Arial"/>
              <a:buNone/>
            </a:pPr>
            <a:r>
              <a:rPr b="1" lang="en-US" sz="126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이용객 이용패턴 Agent</a:t>
            </a:r>
            <a:endParaRPr sz="126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668616" y="3638846"/>
            <a:ext cx="2130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요일 · 시간대별 이용객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혼잡시간과 추천시간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고장부품은 보지 않음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23" name="Google Shape;223;p7"/>
          <p:cNvCxnSpPr/>
          <p:nvPr/>
        </p:nvCxnSpPr>
        <p:spPr>
          <a:xfrm>
            <a:off x="6067537" y="3259570"/>
            <a:ext cx="185100" cy="0"/>
          </a:xfrm>
          <a:prstGeom prst="straightConnector1">
            <a:avLst/>
          </a:prstGeom>
          <a:noFill/>
          <a:ln cap="flat" cmpd="sng" w="128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4" name="Google Shape;224;p7"/>
          <p:cNvSpPr/>
          <p:nvPr/>
        </p:nvSpPr>
        <p:spPr>
          <a:xfrm>
            <a:off x="6298803" y="2047738"/>
            <a:ext cx="2574600" cy="2423700"/>
          </a:xfrm>
          <a:prstGeom prst="rect">
            <a:avLst/>
          </a:prstGeom>
          <a:solidFill>
            <a:srgbClr val="3B3B3B"/>
          </a:solidFill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298803" y="2047738"/>
            <a:ext cx="2574600" cy="510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6520818" y="2288254"/>
            <a:ext cx="2130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961"/>
              <a:buFont typeface="Helvetica Neue"/>
              <a:buNone/>
            </a:pPr>
            <a:r>
              <a:rPr b="1" lang="en-US" sz="961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03</a:t>
            </a:r>
            <a:endParaRPr sz="96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520818" y="2565773"/>
            <a:ext cx="21306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"/>
              <a:buFont typeface="Arial"/>
              <a:buNone/>
            </a:pPr>
            <a:r>
              <a:rPr b="1" lang="en-US" sz="172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무엇부터 점검해야 하는가?</a:t>
            </a:r>
            <a:endParaRPr sz="172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28" name="Google Shape;228;p7"/>
          <p:cNvCxnSpPr/>
          <p:nvPr/>
        </p:nvCxnSpPr>
        <p:spPr>
          <a:xfrm>
            <a:off x="6520818" y="3250319"/>
            <a:ext cx="2130600" cy="0"/>
          </a:xfrm>
          <a:prstGeom prst="straightConnector1">
            <a:avLst/>
          </a:prstGeom>
          <a:noFill/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p7"/>
          <p:cNvSpPr/>
          <p:nvPr/>
        </p:nvSpPr>
        <p:spPr>
          <a:xfrm>
            <a:off x="6520818" y="3324324"/>
            <a:ext cx="2130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5"/>
              <a:buFont typeface="Arial"/>
              <a:buNone/>
            </a:pPr>
            <a:r>
              <a:rPr b="1" lang="en-US" sz="126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점검 종류 · 우선순위 Agent</a:t>
            </a:r>
            <a:endParaRPr sz="126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6520818" y="3638846"/>
            <a:ext cx="2130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긴급·수시특별·자체 분류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우선순위와 완료기한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작업자 일정은 보지 않음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1" name="Google Shape;231;p7"/>
          <p:cNvCxnSpPr/>
          <p:nvPr/>
        </p:nvCxnSpPr>
        <p:spPr>
          <a:xfrm>
            <a:off x="8919737" y="3259570"/>
            <a:ext cx="185100" cy="0"/>
          </a:xfrm>
          <a:prstGeom prst="straightConnector1">
            <a:avLst/>
          </a:prstGeom>
          <a:noFill/>
          <a:ln cap="flat" cmpd="sng" w="128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p7"/>
          <p:cNvSpPr/>
          <p:nvPr/>
        </p:nvSpPr>
        <p:spPr>
          <a:xfrm>
            <a:off x="9151003" y="2047738"/>
            <a:ext cx="2574600" cy="2423700"/>
          </a:xfrm>
          <a:prstGeom prst="rect">
            <a:avLst/>
          </a:prstGeom>
          <a:solidFill>
            <a:srgbClr val="3B3B3B"/>
          </a:solidFill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9151003" y="2047738"/>
            <a:ext cx="2574600" cy="510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2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9373018" y="2288254"/>
            <a:ext cx="2130600" cy="2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961"/>
              <a:buFont typeface="Helvetica Neue"/>
              <a:buNone/>
            </a:pPr>
            <a:r>
              <a:rPr b="1" lang="en-US" sz="961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AGENT 04</a:t>
            </a:r>
            <a:endParaRPr sz="96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9373018" y="2565773"/>
            <a:ext cx="21306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"/>
              <a:buFont typeface="Arial"/>
              <a:buNone/>
            </a:pPr>
            <a:r>
              <a:rPr b="1" lang="en-US" sz="172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누가 점검해야 하는가?</a:t>
            </a:r>
            <a:endParaRPr sz="172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6" name="Google Shape;236;p7"/>
          <p:cNvCxnSpPr/>
          <p:nvPr/>
        </p:nvCxnSpPr>
        <p:spPr>
          <a:xfrm>
            <a:off x="9373018" y="3250319"/>
            <a:ext cx="2130600" cy="0"/>
          </a:xfrm>
          <a:prstGeom prst="straightConnector1">
            <a:avLst/>
          </a:prstGeom>
          <a:noFill/>
          <a:ln cap="flat" cmpd="sng" w="1285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7" name="Google Shape;237;p7"/>
          <p:cNvSpPr/>
          <p:nvPr/>
        </p:nvSpPr>
        <p:spPr>
          <a:xfrm>
            <a:off x="9373018" y="3324324"/>
            <a:ext cx="2130600" cy="2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225" lIns="92500" spcFirstLastPara="1" rIns="92500" wrap="square" tIns="462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65"/>
              <a:buFont typeface="Arial"/>
              <a:buNone/>
            </a:pPr>
            <a:r>
              <a:rPr b="1" lang="en-US" sz="1265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점검 일정 Agent</a:t>
            </a:r>
            <a:endParaRPr sz="1265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9373018" y="3638846"/>
            <a:ext cx="21306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500" spcFirstLastPara="1" rIns="92500" wrap="square" tIns="46225">
            <a:noAutofit/>
          </a:bodyPr>
          <a:lstStyle/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지역·경험·근무시간·자격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피로도 · 이동시간 반영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54177" lvl="0" marL="154177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62"/>
              <a:buFont typeface="Noto Sans KR"/>
              <a:buChar char="•"/>
            </a:pPr>
            <a:r>
              <a:rPr lang="en-US" sz="1062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고장원인은 추정하지 않음</a:t>
            </a:r>
            <a:endParaRPr sz="1062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39" name="Google Shape;239;p7"/>
          <p:cNvCxnSpPr/>
          <p:nvPr/>
        </p:nvCxnSpPr>
        <p:spPr>
          <a:xfrm>
            <a:off x="639560" y="4928681"/>
            <a:ext cx="11003100" cy="0"/>
          </a:xfrm>
          <a:prstGeom prst="straightConnector1">
            <a:avLst/>
          </a:prstGeom>
          <a:noFill/>
          <a:ln cap="flat" cmpd="sng" w="12700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7"/>
          <p:cNvSpPr/>
          <p:nvPr/>
        </p:nvSpPr>
        <p:spPr>
          <a:xfrm>
            <a:off x="639560" y="5093273"/>
            <a:ext cx="11003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기계 Agent는 </a:t>
            </a:r>
            <a:r>
              <a:rPr b="1" lang="en-US" sz="16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왜</a:t>
            </a:r>
            <a:r>
              <a:rPr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, 이용객 Agent는 </a:t>
            </a:r>
            <a:r>
              <a:rPr b="1" lang="en-US" sz="16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언제</a:t>
            </a:r>
            <a:r>
              <a:rPr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, 우선순위 Agent는 </a:t>
            </a:r>
            <a:r>
              <a:rPr b="1" lang="en-US" sz="16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무엇부터</a:t>
            </a:r>
            <a:r>
              <a:rPr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, 일정 Agent는 </a:t>
            </a:r>
            <a:r>
              <a:rPr b="1" lang="en-US" sz="16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누가</a:t>
            </a:r>
            <a:r>
              <a:rPr lang="en-US" sz="16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를 결정한다.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639560" y="5532185"/>
            <a:ext cx="1100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기계 위험이 높다는 것과 이용객이 많다는 것은 다른 문제이므로, 두 판단을 분리하고 우선순위 Agent에서 처음으로 합칩니다.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2" name="Google Shape;242;p7"/>
          <p:cNvCxnSpPr/>
          <p:nvPr/>
        </p:nvCxnSpPr>
        <p:spPr>
          <a:xfrm>
            <a:off x="639560" y="5879637"/>
            <a:ext cx="11003100" cy="0"/>
          </a:xfrm>
          <a:prstGeom prst="straightConnector1">
            <a:avLst/>
          </a:prstGeom>
          <a:noFill/>
          <a:ln cap="flat" cmpd="sng" w="9525">
            <a:solidFill>
              <a:srgbClr val="4A4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7"/>
          <p:cNvSpPr/>
          <p:nvPr/>
        </p:nvSpPr>
        <p:spPr>
          <a:xfrm>
            <a:off x="10545255" y="5934501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3214859" y="3188858"/>
            <a:ext cx="185100" cy="159600"/>
          </a:xfrm>
          <a:prstGeom prst="mathPlus">
            <a:avLst>
              <a:gd fmla="val 23520" name="adj1"/>
            </a:avLst>
          </a:prstGeom>
          <a:solidFill>
            <a:srgbClr val="6B7280"/>
          </a:solidFill>
          <a:ln cap="flat" cmpd="sng" w="96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500" lIns="92500" spcFirstLastPara="1" rIns="92500" wrap="square" tIns="92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6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"/>
          <p:cNvSpPr/>
          <p:nvPr/>
        </p:nvSpPr>
        <p:spPr>
          <a:xfrm>
            <a:off x="594360" y="411480"/>
            <a:ext cx="11002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DATA &amp; RULES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594360" y="694944"/>
            <a:ext cx="1100297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데이터와 운영조건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594360" y="1389888"/>
            <a:ext cx="11002975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더미</a:t>
            </a:r>
            <a:r>
              <a:rPr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데이터로 시작하고, Agent별 전용 칼럼만 전달합니다.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94360" y="2011680"/>
            <a:ext cx="1650949" cy="8412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722376" y="2103120"/>
            <a:ext cx="139491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시설정보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722376" y="2304288"/>
            <a:ext cx="139491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5개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2464765" y="2011680"/>
            <a:ext cx="1650949" cy="8412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2592781" y="2103120"/>
            <a:ext cx="139491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고장이력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2592781" y="2304288"/>
            <a:ext cx="139491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11건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335170" y="2011680"/>
            <a:ext cx="1650949" cy="8412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4463186" y="2103120"/>
            <a:ext cx="139491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이용객패턴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2" name="Google Shape;262;p5"/>
          <p:cNvSpPr/>
          <p:nvPr/>
        </p:nvSpPr>
        <p:spPr>
          <a:xfrm>
            <a:off x="4463186" y="2304288"/>
            <a:ext cx="139491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22건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6205576" y="2011680"/>
            <a:ext cx="1650949" cy="8412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6333592" y="2103120"/>
            <a:ext cx="139491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작업자정보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6333592" y="2304288"/>
            <a:ext cx="139491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35명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8075981" y="2011680"/>
            <a:ext cx="1650949" cy="8412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8203997" y="2103120"/>
            <a:ext cx="139491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특별점검기준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8203997" y="2304288"/>
            <a:ext cx="139491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2개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9946386" y="2011680"/>
            <a:ext cx="1650949" cy="84124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10074402" y="2103120"/>
            <a:ext cx="1394917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현장운영규칙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10074402" y="2304288"/>
            <a:ext cx="1394917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11개</a:t>
            </a:r>
            <a:endParaRPr sz="18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594360" y="3127248"/>
            <a:ext cx="534146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594360" y="3127248"/>
            <a:ext cx="5341468" cy="5029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868680" y="3328416"/>
            <a:ext cx="47928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인력 운영 조건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886968" y="3730752"/>
            <a:ext cx="477454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작업자 35명 = 17개 2인 1조 + 대체인력 1명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주간 6조 · 석간 6조 · 야간 5조 (3교대)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각 교대에서 긴급대기조 1개 이상 확보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다른 역 작업 사이 이동시간 30분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고피로 작업자에게 긴급점검 연속 배정 금지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6" name="Google Shape;276;p5"/>
          <p:cNvSpPr/>
          <p:nvPr/>
        </p:nvSpPr>
        <p:spPr>
          <a:xfrm>
            <a:off x="6255868" y="3127248"/>
            <a:ext cx="5341468" cy="2286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6255868" y="3127248"/>
            <a:ext cx="5341468" cy="502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6530188" y="3328416"/>
            <a:ext cx="47928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월간 일정 규칙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79" name="Google Shape;279;p5"/>
          <p:cNvSpPr/>
          <p:nvPr/>
        </p:nvSpPr>
        <p:spPr>
          <a:xfrm>
            <a:off x="6548476" y="3730752"/>
            <a:ext cx="477454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기준일 2026-07-24 → 계획월 2026-08 자동 설정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점검일·운영일은 2026-08-01 ~ 08-31 실제 날짜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요일 문자 대신 YYYY-MM-DD로 저장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작업자 가능요일과 달력 요일 일치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77800" lvl="0" marL="177800" marR="0" rtl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Noto Sans KR"/>
              <a:buChar char="•"/>
            </a:pPr>
            <a:r>
              <a:rPr lang="en-US" sz="11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Agent별 전용 칼럼만 전달 (51개 칼럼 매핑)</a:t>
            </a:r>
            <a:endParaRPr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80" name="Google Shape;280;p5"/>
          <p:cNvCxnSpPr/>
          <p:nvPr/>
        </p:nvCxnSpPr>
        <p:spPr>
          <a:xfrm>
            <a:off x="594360" y="6382512"/>
            <a:ext cx="11002975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5"/>
          <p:cNvSpPr/>
          <p:nvPr/>
        </p:nvSpPr>
        <p:spPr>
          <a:xfrm>
            <a:off x="10500055" y="643737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05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"/>
          <p:cNvSpPr/>
          <p:nvPr/>
        </p:nvSpPr>
        <p:spPr>
          <a:xfrm>
            <a:off x="594360" y="411480"/>
            <a:ext cx="11002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07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STAKEHOLDER &amp; IMPACT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8" name="Google Shape;288;p3"/>
          <p:cNvSpPr/>
          <p:nvPr/>
        </p:nvSpPr>
        <p:spPr>
          <a:xfrm>
            <a:off x="594360" y="694944"/>
            <a:ext cx="1100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이해관계자와 기대효과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89" name="Google Shape;289;p3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"/>
          <p:cNvSpPr/>
          <p:nvPr/>
        </p:nvSpPr>
        <p:spPr>
          <a:xfrm>
            <a:off x="594360" y="1389888"/>
            <a:ext cx="11003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운영기관·작업자·이용객의 부담을 함께 줄입니다.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91" name="Google Shape;291;p3"/>
          <p:cNvGraphicFramePr/>
          <p:nvPr/>
        </p:nvGraphicFramePr>
        <p:xfrm>
          <a:off x="59436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{3B786588-CDBD-4EBA-8597-55FA448F71B9}</a:tableStyleId>
              </a:tblPr>
              <a:tblGrid>
                <a:gridCol w="1843800"/>
                <a:gridCol w="31383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이해관계자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STEP GUARD 제공 가치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철도·지하철 운영기관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이용객 영향이 큰 시설·시간 확인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유지관리 책임자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근거가 포함된 점검 후보 목록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현장 일정 관리자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근무조건을 고려한 일정 초안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현장 점검자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작업량·교대·피로도 고려 배정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역무원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혼잡시간과 점검시간 사전 확인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이용객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예방점검·혼잡시간 작업 최소화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3"/>
          <p:cNvSpPr/>
          <p:nvPr/>
        </p:nvSpPr>
        <p:spPr>
          <a:xfrm>
            <a:off x="6236450" y="2080823"/>
            <a:ext cx="4876500" cy="8325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"/>
          <p:cNvSpPr/>
          <p:nvPr/>
        </p:nvSpPr>
        <p:spPr>
          <a:xfrm>
            <a:off x="6256619" y="2089773"/>
            <a:ext cx="45600" cy="8325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"/>
          <p:cNvSpPr/>
          <p:nvPr/>
        </p:nvSpPr>
        <p:spPr>
          <a:xfrm>
            <a:off x="6512647" y="2215312"/>
            <a:ext cx="4419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RESPONSE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5" name="Google Shape;295;p3"/>
          <p:cNvSpPr/>
          <p:nvPr/>
        </p:nvSpPr>
        <p:spPr>
          <a:xfrm>
            <a:off x="6512647" y="2416480"/>
            <a:ext cx="4419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빠른 </a:t>
            </a: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고장 대응   </a:t>
            </a:r>
            <a:r>
              <a:rPr b="1" lang="en-US" sz="11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이상 신호 → 점검 배정 시간 단축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3"/>
          <p:cNvSpPr/>
          <p:nvPr/>
        </p:nvSpPr>
        <p:spPr>
          <a:xfrm>
            <a:off x="6236450" y="3099988"/>
            <a:ext cx="4876500" cy="855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6256622" y="3110163"/>
            <a:ext cx="45600" cy="855000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"/>
          <p:cNvSpPr/>
          <p:nvPr/>
        </p:nvSpPr>
        <p:spPr>
          <a:xfrm>
            <a:off x="6492472" y="3218861"/>
            <a:ext cx="4419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CITIZEN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99" name="Google Shape;299;p3"/>
          <p:cNvSpPr/>
          <p:nvPr/>
        </p:nvSpPr>
        <p:spPr>
          <a:xfrm>
            <a:off x="6492477" y="3420038"/>
            <a:ext cx="1726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시민 편의 </a:t>
            </a: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증대</a:t>
            </a: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   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p3"/>
          <p:cNvSpPr/>
          <p:nvPr/>
        </p:nvSpPr>
        <p:spPr>
          <a:xfrm>
            <a:off x="6250163" y="4164648"/>
            <a:ext cx="4876500" cy="855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"/>
          <p:cNvSpPr/>
          <p:nvPr/>
        </p:nvSpPr>
        <p:spPr>
          <a:xfrm>
            <a:off x="6222733" y="4162025"/>
            <a:ext cx="45600" cy="8550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"/>
          <p:cNvSpPr/>
          <p:nvPr/>
        </p:nvSpPr>
        <p:spPr>
          <a:xfrm>
            <a:off x="6478760" y="4353961"/>
            <a:ext cx="4419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Helvetica Neue"/>
              <a:buNone/>
            </a:pPr>
            <a:r>
              <a:rPr b="1"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OPERATION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3" name="Google Shape;303;p3"/>
          <p:cNvSpPr/>
          <p:nvPr/>
        </p:nvSpPr>
        <p:spPr>
          <a:xfrm>
            <a:off x="6478762" y="4555150"/>
            <a:ext cx="1605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고효율 </a:t>
            </a:r>
            <a:r>
              <a:rPr b="1" lang="en-US" sz="15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인력 운영   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3"/>
          <p:cNvSpPr/>
          <p:nvPr/>
        </p:nvSpPr>
        <p:spPr>
          <a:xfrm>
            <a:off x="594350" y="5622374"/>
            <a:ext cx="11003100" cy="5589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"/>
          <p:cNvSpPr/>
          <p:nvPr/>
        </p:nvSpPr>
        <p:spPr>
          <a:xfrm>
            <a:off x="777255" y="5541264"/>
            <a:ext cx="1828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1"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B2B 고객 후보</a:t>
            </a:r>
            <a:endParaRPr b="1"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6" name="Google Shape;306;p3"/>
          <p:cNvSpPr/>
          <p:nvPr/>
        </p:nvSpPr>
        <p:spPr>
          <a:xfrm>
            <a:off x="2606040" y="5541264"/>
            <a:ext cx="8716975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철도·지하철 운영기관</a:t>
            </a:r>
            <a:r>
              <a:rPr b="1" lang="en-US" sz="11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   ·   에스컬레이터 유지관리 업체   ·   </a:t>
            </a:r>
            <a:r>
              <a:rPr b="1" lang="en-US" sz="11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공항·역사·쇼핑몰 시설관리   ·   다중 이동시설 공공기관</a:t>
            </a:r>
            <a:endParaRPr b="1" sz="11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07" name="Google Shape;307;p3"/>
          <p:cNvCxnSpPr/>
          <p:nvPr/>
        </p:nvCxnSpPr>
        <p:spPr>
          <a:xfrm>
            <a:off x="594360" y="6382512"/>
            <a:ext cx="11002975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3"/>
          <p:cNvSpPr/>
          <p:nvPr/>
        </p:nvSpPr>
        <p:spPr>
          <a:xfrm>
            <a:off x="10500055" y="643737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03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9" name="Google Shape;309;p3"/>
          <p:cNvSpPr txBox="1"/>
          <p:nvPr/>
        </p:nvSpPr>
        <p:spPr>
          <a:xfrm>
            <a:off x="7987038" y="4586575"/>
            <a:ext cx="1789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피로도 고려한 </a:t>
            </a:r>
            <a:r>
              <a:rPr b="1" lang="en-US" sz="11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</a:t>
            </a:r>
            <a:r>
              <a:rPr b="1" lang="en-US" sz="11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산정</a:t>
            </a:r>
            <a:endParaRPr/>
          </a:p>
        </p:txBody>
      </p:sp>
      <p:sp>
        <p:nvSpPr>
          <p:cNvPr id="310" name="Google Shape;310;p3"/>
          <p:cNvSpPr txBox="1"/>
          <p:nvPr/>
        </p:nvSpPr>
        <p:spPr>
          <a:xfrm>
            <a:off x="8302850" y="341355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혼잡시간 비긴급 점검 감소</a:t>
            </a:r>
            <a:endParaRPr b="1" sz="15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11" name="Google Shape;311;p3"/>
          <p:cNvSpPr txBox="1"/>
          <p:nvPr/>
        </p:nvSpPr>
        <p:spPr>
          <a:xfrm>
            <a:off x="6216275" y="1430525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기대효과</a:t>
            </a:r>
            <a:endParaRPr/>
          </a:p>
        </p:txBody>
      </p:sp>
      <p:pic>
        <p:nvPicPr>
          <p:cNvPr id="312" name="Google Shape;31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5400" y="5157275"/>
            <a:ext cx="1349488" cy="38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9350" y="5132576"/>
            <a:ext cx="1349499" cy="43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/>
          <p:nvPr/>
        </p:nvSpPr>
        <p:spPr>
          <a:xfrm>
            <a:off x="594522" y="411480"/>
            <a:ext cx="1100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08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TEST DESIGN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94522" y="694944"/>
            <a:ext cx="1100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테스트 시나리오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94522" y="1389888"/>
            <a:ext cx="11003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데이터에 확인하고 싶은 상황을 의도적으로 넣고, 기대 결과와 실제 검증을 구분했습니다.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94360" y="2048256"/>
            <a:ext cx="3360420" cy="1481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594360" y="2048256"/>
            <a:ext cx="45720" cy="1481328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813978" y="2176272"/>
            <a:ext cx="295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ES-01 서울역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813978" y="2450592"/>
            <a:ext cx="2958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발판 이상 반복 · 실시간 이상 신호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2013년 설치 · 이상소음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813978" y="3017520"/>
            <a:ext cx="29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기대 : 긴급점검 후보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210812" y="2048256"/>
            <a:ext cx="3360420" cy="1481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210812" y="2048256"/>
            <a:ext cx="45720" cy="1481328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430431" y="2176272"/>
            <a:ext cx="295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ES-04 강남역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430431" y="2450592"/>
            <a:ext cx="2958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전원 이상 반복 · 최근 운행 중 정지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점검대기 상태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4430431" y="3017520"/>
            <a:ext cx="29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기대 : 최우선 긴급점검 후보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94360" y="3785616"/>
            <a:ext cx="3360420" cy="1481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594360" y="3785616"/>
            <a:ext cx="45720" cy="148132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813978" y="3913632"/>
            <a:ext cx="295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실외·장마 시설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6" name="Google Shape;336;p8"/>
          <p:cNvSpPr/>
          <p:nvPr/>
        </p:nvSpPr>
        <p:spPr>
          <a:xfrm>
            <a:off x="813978" y="4187952"/>
            <a:ext cx="2958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계획월 8월 · 장마 노출 환경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ES-02 · ES-05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813978" y="4754880"/>
            <a:ext cx="29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기대 : 풍수해 수시특별점검 후보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4210812" y="3785616"/>
            <a:ext cx="3360420" cy="14813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4210812" y="3785616"/>
            <a:ext cx="45720" cy="1481328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4430431" y="3913632"/>
            <a:ext cx="2958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자체점검 예정</a:t>
            </a:r>
            <a:endParaRPr sz="14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430431" y="4187952"/>
            <a:ext cx="29580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실시간 이상 없음 · 점검일 도래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정상운행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2" name="Google Shape;342;p8"/>
          <p:cNvSpPr/>
          <p:nvPr/>
        </p:nvSpPr>
        <p:spPr>
          <a:xfrm>
            <a:off x="4430431" y="4754880"/>
            <a:ext cx="2958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기대 : 자체점검 후보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7936992" y="2048256"/>
            <a:ext cx="3660343" cy="212140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8"/>
          <p:cNvSpPr/>
          <p:nvPr/>
        </p:nvSpPr>
        <p:spPr>
          <a:xfrm>
            <a:off x="8156611" y="2194560"/>
            <a:ext cx="3221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코드에서 자동 확인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5" name="Google Shape;345;p8"/>
          <p:cNvSpPr/>
          <p:nvPr/>
        </p:nvSpPr>
        <p:spPr>
          <a:xfrm>
            <a:off x="8193187" y="2505456"/>
            <a:ext cx="3148200" cy="15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Noto Sans KR"/>
              <a:buChar char="•"/>
            </a:pPr>
            <a:r>
              <a:rPr lang="en-US" sz="12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시설이 세 종류 중 하나에 배정됐는가</a:t>
            </a:r>
            <a:endParaRPr sz="12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05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Noto Sans KR"/>
              <a:buChar char="•"/>
            </a:pPr>
            <a:r>
              <a:rPr lang="en-US" sz="12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같은 시설이 중복 배정됐는가</a:t>
            </a:r>
            <a:endParaRPr sz="12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05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Noto Sans KR"/>
              <a:buChar char="•"/>
            </a:pPr>
            <a:r>
              <a:rPr lang="en-US" sz="12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긴급점검에 2명 이상이 배정됐는가</a:t>
            </a:r>
            <a:endParaRPr sz="12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05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Noto Sans KR"/>
              <a:buChar char="•"/>
            </a:pPr>
            <a:r>
              <a:rPr lang="en-US" sz="12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점검일이 다음 달 YYYY-MM-DD 범위인가</a:t>
            </a:r>
            <a:endParaRPr sz="12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90500" lvl="0" marL="1778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Noto Sans KR"/>
              <a:buChar char="•"/>
            </a:pPr>
            <a:r>
              <a:rPr lang="en-US" sz="125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교대별 긴급대기조 코드가 있는가</a:t>
            </a:r>
            <a:endParaRPr sz="12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594360" y="5504688"/>
            <a:ext cx="11002975" cy="658368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/>
          <p:nvPr/>
        </p:nvSpPr>
        <p:spPr>
          <a:xfrm>
            <a:off x="887131" y="5504688"/>
            <a:ext cx="10417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검증 상태   </a:t>
            </a:r>
            <a:r>
              <a:rPr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Agent·데이터 연결·3종 분류·월간 일정·CSV 저장 구현 완료. 샘플 실행 결과를 확보했으며, </a:t>
            </a:r>
            <a:r>
              <a:rPr b="1"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현장 PoC 검증이 필요</a:t>
            </a:r>
            <a:r>
              <a:rPr lang="en-US" sz="1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합니다.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348" name="Google Shape;348;p8"/>
          <p:cNvCxnSpPr/>
          <p:nvPr/>
        </p:nvCxnSpPr>
        <p:spPr>
          <a:xfrm>
            <a:off x="594360" y="6382512"/>
            <a:ext cx="11002975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8"/>
          <p:cNvSpPr/>
          <p:nvPr/>
        </p:nvSpPr>
        <p:spPr>
          <a:xfrm>
            <a:off x="10500055" y="6437376"/>
            <a:ext cx="1097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09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/>
          <p:nvPr/>
        </p:nvSpPr>
        <p:spPr>
          <a:xfrm>
            <a:off x="594360" y="411480"/>
            <a:ext cx="11002975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09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OUTPUT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6" name="Google Shape;356;p9"/>
          <p:cNvSpPr/>
          <p:nvPr/>
        </p:nvSpPr>
        <p:spPr>
          <a:xfrm>
            <a:off x="594360" y="694944"/>
            <a:ext cx="11002975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샘플 데이터 제안 결과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594360" y="1225296"/>
            <a:ext cx="713232" cy="50292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594360" y="1484071"/>
            <a:ext cx="237744" cy="213970"/>
          </a:xfrm>
          <a:prstGeom prst="triangle">
            <a:avLst>
              <a:gd fmla="val 50000" name="adj"/>
            </a:avLst>
          </a:prstGeom>
          <a:noFill/>
          <a:ln cap="flat" cmpd="sng" w="25400">
            <a:solidFill>
              <a:srgbClr val="EA16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704198" y="1565380"/>
            <a:ext cx="18069" cy="72750"/>
          </a:xfrm>
          <a:prstGeom prst="roundRect">
            <a:avLst>
              <a:gd fmla="val 101212" name="adj"/>
            </a:avLst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701345" y="1655247"/>
            <a:ext cx="23774" cy="23774"/>
          </a:xfrm>
          <a:prstGeom prst="ellipse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923544" y="1444752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긴급점검</a:t>
            </a:r>
            <a:r>
              <a:rPr lang="en-US" sz="9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 2건 · 완료기한 즉시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62" name="Google Shape;362;p9"/>
          <p:cNvGraphicFramePr/>
          <p:nvPr/>
        </p:nvGraphicFramePr>
        <p:xfrm>
          <a:off x="594360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{3B786588-CDBD-4EBA-8597-55FA448F71B9}</a:tableStyleId>
              </a:tblPr>
              <a:tblGrid>
                <a:gridCol w="1051550"/>
                <a:gridCol w="1371600"/>
                <a:gridCol w="1691650"/>
                <a:gridCol w="12344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점검일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시설 · 역명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담당조 (2인 1조)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중점점검항목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08-01 10:00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ES-01 · 서울역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D01 김민수·강준호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발판·소음 부품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08-02 10:00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ES-04 · 강남역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D04 최은영·한지민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제어·전원 부품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363" name="Google Shape;363;p9"/>
          <p:cNvSpPr/>
          <p:nvPr/>
        </p:nvSpPr>
        <p:spPr>
          <a:xfrm>
            <a:off x="630936" y="2889504"/>
            <a:ext cx="5349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선정 이유 : 반복고장 · 조치 후 재발    승인 : 담당자 확인 필요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594360" y="3279404"/>
            <a:ext cx="237744" cy="171176"/>
          </a:xfrm>
          <a:prstGeom prst="arc">
            <a:avLst>
              <a:gd fmla="val 10800000" name="adj1"/>
              <a:gd fmla="val 21600000" name="adj2"/>
            </a:avLst>
          </a:prstGeom>
          <a:noFill/>
          <a:ln cap="flat" cmpd="sng" w="2857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9"/>
          <p:cNvCxnSpPr/>
          <p:nvPr/>
        </p:nvCxnSpPr>
        <p:spPr>
          <a:xfrm>
            <a:off x="594360" y="3364992"/>
            <a:ext cx="237744" cy="0"/>
          </a:xfrm>
          <a:prstGeom prst="straightConnector1">
            <a:avLst/>
          </a:prstGeom>
          <a:noFill/>
          <a:ln cap="flat" cmpd="sng" w="12700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9"/>
          <p:cNvCxnSpPr/>
          <p:nvPr/>
        </p:nvCxnSpPr>
        <p:spPr>
          <a:xfrm>
            <a:off x="713232" y="3364992"/>
            <a:ext cx="0" cy="112928"/>
          </a:xfrm>
          <a:prstGeom prst="straightConnector1">
            <a:avLst/>
          </a:prstGeom>
          <a:noFill/>
          <a:ln cap="flat" cmpd="sng" w="2222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7" name="Google Shape;367;p9"/>
          <p:cNvSpPr/>
          <p:nvPr/>
        </p:nvSpPr>
        <p:spPr>
          <a:xfrm>
            <a:off x="670438" y="3460090"/>
            <a:ext cx="42794" cy="47549"/>
          </a:xfrm>
          <a:prstGeom prst="arc">
            <a:avLst>
              <a:gd fmla="val 0" name="adj1"/>
              <a:gd fmla="val 10800000" name="adj2"/>
            </a:avLst>
          </a:prstGeom>
          <a:noFill/>
          <a:ln cap="flat" cmpd="sng" w="22225">
            <a:solidFill>
              <a:srgbClr val="F58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923544" y="3218688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822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수시특별점검</a:t>
            </a:r>
            <a:r>
              <a:rPr lang="en-US" sz="9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 1건 · 풍수해 대비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69" name="Google Shape;369;p9"/>
          <p:cNvGraphicFramePr/>
          <p:nvPr/>
        </p:nvGraphicFramePr>
        <p:xfrm>
          <a:off x="594360" y="35295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{3B786588-CDBD-4EBA-8597-55FA448F71B9}</a:tableStyleId>
              </a:tblPr>
              <a:tblGrid>
                <a:gridCol w="1051550"/>
                <a:gridCol w="1371600"/>
                <a:gridCol w="1691650"/>
                <a:gridCol w="12344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점검일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시설 · 역명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담당조 (2인 1조)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중점점검항목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08-05 14:00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ES-02 · 교대역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E01 조하린·장우진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벨트·손잡이 부품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0" name="Google Shape;370;p9"/>
          <p:cNvSpPr/>
          <p:nvPr/>
        </p:nvSpPr>
        <p:spPr>
          <a:xfrm>
            <a:off x="630936" y="4261104"/>
            <a:ext cx="5349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점검주체 : 자체 관리 주체    선정 이유 : 장마 노출 (계획월 8월)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1" name="Google Shape;371;p9"/>
          <p:cNvSpPr/>
          <p:nvPr/>
        </p:nvSpPr>
        <p:spPr>
          <a:xfrm rot="-2700000">
            <a:off x="6365870" y="1510223"/>
            <a:ext cx="33284" cy="161666"/>
          </a:xfrm>
          <a:prstGeom prst="roundRect">
            <a:avLst>
              <a:gd fmla="val 82418" name="adj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6258885" y="1467429"/>
            <a:ext cx="99852" cy="99852"/>
          </a:xfrm>
          <a:prstGeom prst="blockArc">
            <a:avLst>
              <a:gd fmla="val 18300000" name="adj1"/>
              <a:gd fmla="val 12900000" name="adj2"/>
              <a:gd fmla="val 21000" name="adj3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6406286" y="1614830"/>
            <a:ext cx="99852" cy="99852"/>
          </a:xfrm>
          <a:prstGeom prst="blockArc">
            <a:avLst>
              <a:gd fmla="val 7500000" name="adj1"/>
              <a:gd fmla="val 2100000" name="adj2"/>
              <a:gd fmla="val 21000" name="adj3"/>
            </a:avLst>
          </a:prstGeom>
          <a:solidFill>
            <a:srgbClr val="9CA3A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592824" y="1444752"/>
            <a:ext cx="4846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자체점검</a:t>
            </a:r>
            <a:r>
              <a:rPr lang="en-US" sz="9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 2건 · 비혼잡시간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75" name="Google Shape;375;p9"/>
          <p:cNvGraphicFramePr/>
          <p:nvPr/>
        </p:nvGraphicFramePr>
        <p:xfrm>
          <a:off x="6263640" y="17556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{3B786588-CDBD-4EBA-8597-55FA448F71B9}</a:tableStyleId>
              </a:tblPr>
              <a:tblGrid>
                <a:gridCol w="1051550"/>
                <a:gridCol w="1371600"/>
                <a:gridCol w="1691650"/>
                <a:gridCol w="121890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점검일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시설 · 역명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담당조 (2인 1조)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중점점검항목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08-06 10:00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ES-03 · 용산역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D02 이수진·윤서연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센서 부품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08-10 10:00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ES-05 · 구로역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D05 정하늘·서동혁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조명 부품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376" name="Google Shape;376;p9"/>
          <p:cNvSpPr/>
          <p:nvPr/>
        </p:nvSpPr>
        <p:spPr>
          <a:xfrm>
            <a:off x="6300216" y="2889504"/>
            <a:ext cx="5333695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자격 : 승강기 유지관리 자격 포함    선정 이유 : 자체점검 기한</a:t>
            </a:r>
            <a:endParaRPr sz="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6263640" y="3218688"/>
            <a:ext cx="41148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6446520" y="3218688"/>
            <a:ext cx="5150815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인력운영안</a:t>
            </a:r>
            <a:r>
              <a:rPr lang="en-US" sz="9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  계획월 2026-08 · 주간 배정</a:t>
            </a:r>
            <a:endParaRPr sz="13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379" name="Google Shape;379;p9"/>
          <p:cNvGraphicFramePr/>
          <p:nvPr/>
        </p:nvGraphicFramePr>
        <p:xfrm>
          <a:off x="6263640" y="35295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{3B786588-CDBD-4EBA-8597-55FA448F71B9}</a:tableStyleId>
              </a:tblPr>
              <a:tblGrid>
                <a:gridCol w="1417325"/>
                <a:gridCol w="868675"/>
                <a:gridCol w="914400"/>
                <a:gridCol w="1234450"/>
                <a:gridCol w="898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운영일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교대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점검조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긴급대기조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인원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F2F2F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2026-08-01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2026-08-02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2026-08-05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E06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2026-08-06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4F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2026-08-10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주간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D06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937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rgbClr val="1F293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05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50800" marB="50800" marR="88900" marL="88900" anchor="ctr">
                    <a:lnL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5E7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0" name="Google Shape;380;p9"/>
          <p:cNvSpPr/>
          <p:nvPr/>
        </p:nvSpPr>
        <p:spPr>
          <a:xfrm>
            <a:off x="0" y="5541264"/>
            <a:ext cx="12191695" cy="1316736"/>
          </a:xfrm>
          <a:prstGeom prst="rect">
            <a:avLst/>
          </a:prstGeom>
          <a:solidFill>
            <a:srgbClr val="2F2F2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594360" y="5797296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상황에 맞는 점검과 </a:t>
            </a:r>
            <a:r>
              <a:rPr b="1" lang="en-US" sz="2200">
                <a:solidFill>
                  <a:srgbClr val="F58220"/>
                </a:solidFill>
                <a:latin typeface="Noto Sans KR"/>
                <a:ea typeface="Noto Sans KR"/>
                <a:cs typeface="Noto Sans KR"/>
                <a:sym typeface="Noto Sans KR"/>
              </a:rPr>
              <a:t>팀을 먼저 연결한다</a:t>
            </a:r>
            <a:endParaRPr sz="2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5769874" y="5742425"/>
            <a:ext cx="58275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긴급·수시특별·자체점검을 분리 </a:t>
            </a: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및</a:t>
            </a: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 실제 인력을 배치 </a:t>
            </a: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제안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AI는 분류와 일정 초안을 만들고, 최종 승인은 현장 책임자가 수행합니다.</a:t>
            </a:r>
            <a:endParaRPr sz="11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500055" y="6437376"/>
            <a:ext cx="1097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850"/>
              <a:buFont typeface="Helvetica Neue"/>
              <a:buNone/>
            </a:pPr>
            <a:r>
              <a:rPr lang="en-US" sz="850">
                <a:solidFill>
                  <a:srgbClr val="9CA3AF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endParaRPr sz="8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g3f5a80ba695_6_80" title="스크린샷 2026-07-24 15.00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925" y="1415562"/>
            <a:ext cx="9552326" cy="4721451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3f5a80ba695_6_80"/>
          <p:cNvSpPr txBox="1"/>
          <p:nvPr/>
        </p:nvSpPr>
        <p:spPr>
          <a:xfrm>
            <a:off x="4512500" y="6382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u="sng">
                <a:solidFill>
                  <a:schemeClr val="hlink"/>
                </a:solidFill>
                <a:hlinkClick r:id="rId4"/>
              </a:rPr>
              <a:t>https://stepguard.vercel.app/</a:t>
            </a:r>
            <a:endParaRPr b="1"/>
          </a:p>
        </p:txBody>
      </p:sp>
      <p:sp>
        <p:nvSpPr>
          <p:cNvPr id="390" name="Google Shape;390;g3f5a80ba695_6_80"/>
          <p:cNvSpPr/>
          <p:nvPr/>
        </p:nvSpPr>
        <p:spPr>
          <a:xfrm>
            <a:off x="594360" y="411480"/>
            <a:ext cx="11003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A1639"/>
              </a:buClr>
              <a:buSzPts val="1050"/>
              <a:buFont typeface="Helvetica Neue"/>
              <a:buNone/>
            </a:pPr>
            <a:r>
              <a:rPr b="1" lang="en-US" sz="1050">
                <a:solidFill>
                  <a:srgbClr val="EA1639"/>
                </a:solidFill>
                <a:latin typeface="Noto Sans KR"/>
                <a:ea typeface="Noto Sans KR"/>
                <a:cs typeface="Noto Sans KR"/>
                <a:sym typeface="Noto Sans KR"/>
              </a:rPr>
              <a:t>10</a:t>
            </a:r>
            <a:r>
              <a:rPr lang="en-US" sz="1050">
                <a:solidFill>
                  <a:srgbClr val="6B7280"/>
                </a:solidFill>
                <a:latin typeface="Noto Sans KR"/>
                <a:ea typeface="Noto Sans KR"/>
                <a:cs typeface="Noto Sans KR"/>
                <a:sym typeface="Noto Sans KR"/>
              </a:rPr>
              <a:t>   OUTPUT</a:t>
            </a:r>
            <a:endParaRPr sz="105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1" name="Google Shape;391;g3f5a80ba695_6_80"/>
          <p:cNvSpPr/>
          <p:nvPr/>
        </p:nvSpPr>
        <p:spPr>
          <a:xfrm>
            <a:off x="594360" y="694944"/>
            <a:ext cx="110031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F2937"/>
                </a:solidFill>
                <a:latin typeface="Noto Sans KR"/>
                <a:ea typeface="Noto Sans KR"/>
                <a:cs typeface="Noto Sans KR"/>
                <a:sym typeface="Noto Sans KR"/>
              </a:rPr>
              <a:t>대시보드 서비스</a:t>
            </a:r>
            <a:endParaRPr sz="2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2" name="Google Shape;392;g3f5a80ba695_6_80"/>
          <p:cNvSpPr/>
          <p:nvPr/>
        </p:nvSpPr>
        <p:spPr>
          <a:xfrm>
            <a:off x="594360" y="1225296"/>
            <a:ext cx="713100" cy="504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2F2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f5a80ba695_17_0"/>
          <p:cNvSpPr txBox="1"/>
          <p:nvPr/>
        </p:nvSpPr>
        <p:spPr>
          <a:xfrm>
            <a:off x="5744150" y="4535850"/>
            <a:ext cx="6287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</a:pPr>
            <a:r>
              <a:rPr lang="en-US" sz="8000">
                <a:solidFill>
                  <a:schemeClr val="lt1"/>
                </a:solidFill>
                <a:latin typeface="Roboto Mono SemiBold"/>
                <a:ea typeface="Roboto Mono SemiBold"/>
                <a:cs typeface="Roboto Mono SemiBold"/>
                <a:sym typeface="Roboto Mono SemiBold"/>
              </a:rPr>
              <a:t>감사합니다</a:t>
            </a:r>
            <a:endParaRPr sz="8000">
              <a:solidFill>
                <a:schemeClr val="dk1"/>
              </a:solidFill>
              <a:latin typeface="Roboto Mono SemiBold"/>
              <a:ea typeface="Roboto Mono SemiBold"/>
              <a:cs typeface="Roboto Mono SemiBold"/>
              <a:sym typeface="Roboto Mono SemiBold"/>
            </a:endParaRPr>
          </a:p>
        </p:txBody>
      </p:sp>
      <p:sp>
        <p:nvSpPr>
          <p:cNvPr id="399" name="Google Shape;399;g3f5a80ba695_17_0"/>
          <p:cNvSpPr/>
          <p:nvPr/>
        </p:nvSpPr>
        <p:spPr>
          <a:xfrm>
            <a:off x="594360" y="1371600"/>
            <a:ext cx="749700" cy="54900"/>
          </a:xfrm>
          <a:prstGeom prst="rect">
            <a:avLst/>
          </a:prstGeom>
          <a:solidFill>
            <a:srgbClr val="EA1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g3f5a80ba695_17_0"/>
          <p:cNvSpPr/>
          <p:nvPr/>
        </p:nvSpPr>
        <p:spPr>
          <a:xfrm>
            <a:off x="557784" y="1627632"/>
            <a:ext cx="65838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Helvetica Neue"/>
              <a:buNone/>
            </a:pPr>
            <a:r>
              <a:rPr b="1" lang="en-US" sz="4200">
                <a:solidFill>
                  <a:srgbClr val="E06666"/>
                </a:solidFill>
                <a:latin typeface="Noto Sans KR"/>
                <a:ea typeface="Noto Sans KR"/>
                <a:cs typeface="Noto Sans KR"/>
                <a:sym typeface="Noto Sans KR"/>
              </a:rPr>
              <a:t>STEP</a:t>
            </a:r>
            <a:r>
              <a:rPr b="1" lang="en-US" sz="42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 GUARD</a:t>
            </a:r>
            <a:endParaRPr sz="4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1" name="Google Shape;401;g3f5a80ba695_17_0"/>
          <p:cNvSpPr/>
          <p:nvPr/>
        </p:nvSpPr>
        <p:spPr>
          <a:xfrm>
            <a:off x="594360" y="2670048"/>
            <a:ext cx="6309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lang="en-US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에스컬레이터 점검 분류·인력배치 AI 서비스</a:t>
            </a:r>
            <a:endParaRPr sz="19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2026-07-24T05:17:35Z</dcterms:created>
  <dc:creator>최승우 · 황의진 · 권주현</dc:creator>
</cp:coreProperties>
</file>
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>
        <p:scale>
          <a:sx n="89" d="100"/>
          <a:sy n="89" d="100"/>
        </p:scale>
        <p:origin x="1624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901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k/logo_ska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749808"/>
            <a:ext cx="2194560" cy="5394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1664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Generative AI Service – AI 서비스 개발 Mini-project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1078992" y="21031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설계서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프로젝트명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00400" y="3794760"/>
            <a:ext cx="43891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1143000" y="3931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 / 조 / 팀원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0" y="4297680"/>
            <a:ext cx="43891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200400" y="4800600"/>
            <a:ext cx="43891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6"/>
          <p:cNvSpPr txBox="1"/>
          <p:nvPr/>
        </p:nvSpPr>
        <p:spPr>
          <a:xfrm>
            <a:off x="1143000" y="4937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저장소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6108192"/>
            <a:ext cx="6355080" cy="274320"/>
          </a:xfrm>
          <a:prstGeom prst="rect">
            <a:avLst/>
          </a:prstGeom>
          <a:noFill/>
          <a:ln w="9525">
            <a:solidFill>
              <a:srgbClr val="FFFF00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문서는 SK㈜ AX의 컨텐츠 자산으로, 무단 사용 및 불법 배포 시 법적 조치를 받을 수 있습니다.</a:t>
            </a:r>
            <a:endParaRPr lang="en-US" sz="1100" dirty="0"/>
          </a:p>
        </p:txBody>
      </p:sp>
      <p:pic>
        <p:nvPicPr>
          <p:cNvPr id="12" name="Image 1" descr="/home/claude/sk/logo_sk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0" y="5806440"/>
            <a:ext cx="1280160" cy="749808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3200400" y="5303520"/>
            <a:ext cx="43891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01  유저 문제 정의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69264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Service Design Document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440680" cy="329184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5440680" cy="329184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문제   회사(고객사)의 문제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9304"/>
            <a:ext cx="5440680" cy="1362456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48640" y="1289304"/>
            <a:ext cx="5440680" cy="136245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회사(조직)가 어떤 문제를 겪고 있는지 현상과 수치로 작성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9632" y="960120"/>
            <a:ext cx="5440680" cy="329184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199632" y="960120"/>
            <a:ext cx="5440680" cy="329184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유저 문제   실제 사용자 1종의 불편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9632" y="1289304"/>
            <a:ext cx="5440680" cy="1362456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199632" y="1289304"/>
            <a:ext cx="5440680" cy="136245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누가(1종), 어떤 상황에서, 무엇 때문에 불편한지 작성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1091672" cy="822960"/>
          </a:xfrm>
          <a:prstGeom prst="rect">
            <a:avLst/>
          </a:prstGeom>
          <a:solidFill>
            <a:srgbClr val="DEEAF6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85800" y="2834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연결고리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283464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유저 문제를 풀면 비즈니스 문제가 어떻게 풀리는지 한 문장으로 연결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440680" cy="329184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548640" y="3840480"/>
            <a:ext cx="5440680" cy="329184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정의의 근거   통계 · 사례 · 경험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169664"/>
            <a:ext cx="5440680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548640" y="4169664"/>
            <a:ext cx="5440680" cy="149961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문제가 실재한다는 근거 (통계, 기사, 사례, 경험) 및 출처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9632" y="3840480"/>
            <a:ext cx="5440680" cy="329184"/>
          </a:xfrm>
          <a:prstGeom prst="rect">
            <a:avLst/>
          </a:prstGeom>
          <a:solidFill>
            <a:srgbClr val="DEEA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199632" y="3840480"/>
            <a:ext cx="5440680" cy="329184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적용 지점   AI가 맡는 장면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99632" y="4169664"/>
            <a:ext cx="5440680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199632" y="4169664"/>
            <a:ext cx="5440680" cy="149961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맡는 일 (검색 · 요약 · 분류 · 생성 · 판단 등)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02  1-Pager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69264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Service Design Document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011680" cy="59436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201168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51760" y="960120"/>
            <a:ext cx="8988552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2651760" y="960120"/>
            <a:ext cx="898855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이 문제를 다뤄야 하는 이유 (시장 변화, 조직의 필요)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2011680" cy="59436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48640" y="1627632"/>
            <a:ext cx="201168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51760" y="1627632"/>
            <a:ext cx="8988552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2651760" y="1627632"/>
            <a:ext cx="898855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나는 ○○할 때 ○○하고 싶다. 그래야 ○○할 수 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295144"/>
            <a:ext cx="2011680" cy="59436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48640" y="2295144"/>
            <a:ext cx="201168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사용자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651760" y="2295144"/>
            <a:ext cx="8988552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2651760" y="2295144"/>
            <a:ext cx="898855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1종, 역할과 상황까지 구체적으로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62656"/>
            <a:ext cx="2011680" cy="59436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48640" y="2962656"/>
            <a:ext cx="201168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해결 전략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651760" y="2962656"/>
            <a:ext cx="8988552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2651760" y="2962656"/>
            <a:ext cx="898855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문제를 푸는 흐름을 화살표(→)로 한 줄에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30168"/>
            <a:ext cx="2011680" cy="594360"/>
          </a:xfrm>
          <a:prstGeom prst="rect">
            <a:avLst/>
          </a:prstGeom>
          <a:solidFill>
            <a:srgbClr val="DEEA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48640" y="3630168"/>
            <a:ext cx="201168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역할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651760" y="3630168"/>
            <a:ext cx="8988552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2651760" y="3630168"/>
            <a:ext cx="898855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맡는 일과 사용 기술 (LLM · sLLM · RAG · Agent · MCP 중 실제 사용하는 것만)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2011680" cy="59436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48640" y="4297680"/>
            <a:ext cx="201168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지표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651760" y="4297680"/>
            <a:ext cx="8988552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2651760" y="4297680"/>
            <a:ext cx="898855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여부를 판단할 측정 가능한 지표 1~2개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965192"/>
            <a:ext cx="2011680" cy="59436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548640" y="4965192"/>
            <a:ext cx="201168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 범위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651760" y="4965192"/>
            <a:ext cx="8988552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2651760" y="4965192"/>
            <a:ext cx="8988552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포함 : _______________      제외 : _______________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03  사용자 여정 지도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69264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Service Design Document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91672" cy="502920"/>
          </a:xfrm>
          <a:prstGeom prst="rect">
            <a:avLst/>
          </a:prstGeom>
          <a:solidFill>
            <a:srgbClr val="F2F2F2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91672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 Flow    </a:t>
            </a:r>
            <a:r>
              <a:rPr lang="en-US" sz="125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1  →  단계 2  →  단계 3  →  단계 4  →  단계 5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057400" y="1691640"/>
            <a:ext cx="1901952" cy="502920"/>
          </a:xfrm>
          <a:prstGeom prst="homePlat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2148840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</a:t>
            </a: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이름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95928" y="1691640"/>
            <a:ext cx="1901952" cy="502920"/>
          </a:xfrm>
          <a:prstGeom prst="homePlat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4087368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</a:t>
            </a: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이름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34456" y="1691640"/>
            <a:ext cx="1901952" cy="502920"/>
          </a:xfrm>
          <a:prstGeom prst="homePlat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025896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</a:t>
            </a: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이름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72984" y="1691640"/>
            <a:ext cx="1901952" cy="502920"/>
          </a:xfrm>
          <a:prstGeom prst="homePlat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7964424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</a:t>
            </a: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이름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11512" y="1691640"/>
            <a:ext cx="1901952" cy="502920"/>
          </a:xfrm>
          <a:prstGeom prst="homePlat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9902952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</a:t>
            </a: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이름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377440"/>
            <a:ext cx="1371600" cy="914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48640" y="2377440"/>
            <a:ext cx="137160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행동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57400" y="237744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2057400" y="2377440"/>
            <a:ext cx="182880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하는 행동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95928" y="237744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995928" y="2377440"/>
            <a:ext cx="182880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하는 행동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34456" y="237744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5934456" y="2377440"/>
            <a:ext cx="182880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하는 행동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72984" y="237744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7872984" y="2377440"/>
            <a:ext cx="182880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하는 행동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811512" y="237744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9811512" y="2377440"/>
            <a:ext cx="182880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하는 행동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429000"/>
            <a:ext cx="1371600" cy="914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548640" y="3429000"/>
            <a:ext cx="137160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화면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057400" y="342900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2057400" y="3429000"/>
            <a:ext cx="182880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보이는 화면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995928" y="342900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3995928" y="3429000"/>
            <a:ext cx="182880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보이는 화면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34456" y="342900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5934456" y="3429000"/>
            <a:ext cx="182880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보이는 화면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872984" y="342900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7872984" y="3429000"/>
            <a:ext cx="182880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보이는 화면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811512" y="342900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9811512" y="3429000"/>
            <a:ext cx="182880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보이는 화면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80560"/>
            <a:ext cx="1371600" cy="914400"/>
          </a:xfrm>
          <a:prstGeom prst="rect">
            <a:avLst/>
          </a:prstGeom>
          <a:solidFill>
            <a:srgbClr val="DEEA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548640" y="4480560"/>
            <a:ext cx="137160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적용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057400" y="448056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2057400" y="4480560"/>
            <a:ext cx="182880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없으면 -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995928" y="448056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 txBox="1"/>
          <p:nvPr/>
        </p:nvSpPr>
        <p:spPr>
          <a:xfrm>
            <a:off x="3995928" y="4480560"/>
            <a:ext cx="182880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없으면 -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934456" y="448056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5934456" y="4480560"/>
            <a:ext cx="182880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: 하는 일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872984" y="448056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 txBox="1"/>
          <p:nvPr/>
        </p:nvSpPr>
        <p:spPr>
          <a:xfrm>
            <a:off x="7872984" y="4480560"/>
            <a:ext cx="182880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없으면 -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811512" y="448056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9811512" y="4480560"/>
            <a:ext cx="182880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없으면 -</a:t>
            </a:r>
            <a:endParaRPr lang="en-US" sz="11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04  유저 세부 시나리오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69264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Service Design Document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11091672" cy="422452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EPIC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사용자 스토리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인수조건 (판정 가능한 문장)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 ID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사용자가 이루려는 큰 목표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[누구]는 [무엇]을 할 수 있다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~하면 ~된다 (정상)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TC-01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[누구]는 [무엇]을 할 수 있다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~하면 ~된다 (정상)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TC-02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[누구]는 [무엇]을 할 수 있다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~하면 ~된다 (예외 · 오류)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TC-03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TC-04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05  AI 설계 : 시스템 구성 및 처리 흐름 (1/2)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69264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Service Design Document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6949440" cy="329184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6949440" cy="329184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구성도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9304"/>
            <a:ext cx="694944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726680" y="960120"/>
            <a:ext cx="3913632" cy="329184"/>
          </a:xfrm>
          <a:prstGeom prst="rect">
            <a:avLst/>
          </a:prstGeom>
          <a:solidFill>
            <a:srgbClr val="DEEA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26680" y="960120"/>
            <a:ext cx="3913632" cy="329184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처리 흐름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26680" y="1289304"/>
            <a:ext cx="3913632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31520" y="30175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화면, 서버, AI 처리, 저장소 간 호출 관계를 그림으로 작성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(실제 구현한 구성 요소만 포함)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1463040"/>
            <a:ext cx="3657600" cy="402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2600"/>
              </a:spcAft>
              <a:buNone/>
            </a:pP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입력 :</a:t>
            </a:r>
            <a:endParaRPr lang="en-US" sz="1200" dirty="0"/>
          </a:p>
          <a:p>
            <a:pPr marL="0" indent="0">
              <a:spcAft>
                <a:spcPts val="2600"/>
              </a:spcAft>
              <a:buNone/>
            </a:pP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</a:t>
            </a:r>
            <a:endParaRPr lang="en-US" sz="1200" dirty="0"/>
          </a:p>
          <a:p>
            <a:pPr marL="0" indent="0">
              <a:spcAft>
                <a:spcPts val="2600"/>
              </a:spcAft>
              <a:buNone/>
            </a:pP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</a:t>
            </a:r>
            <a:endParaRPr lang="en-US" sz="1200" dirty="0"/>
          </a:p>
          <a:p>
            <a:pPr marL="0" indent="0">
              <a:spcAft>
                <a:spcPts val="2600"/>
              </a:spcAft>
              <a:buNone/>
            </a:pP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</a:t>
            </a:r>
            <a:endParaRPr lang="en-US" sz="1200" dirty="0"/>
          </a:p>
          <a:p>
            <a:pPr marL="0" indent="0">
              <a:spcAft>
                <a:spcPts val="2600"/>
              </a:spcAft>
              <a:buNone/>
            </a:pP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</a:t>
            </a:r>
            <a:endParaRPr lang="en-US" sz="1200" dirty="0"/>
          </a:p>
          <a:p>
            <a:pPr marL="0" indent="0">
              <a:spcAft>
                <a:spcPts val="2600"/>
              </a:spcAft>
              <a:buNone/>
            </a:pPr>
            <a:r>
              <a:rPr lang="en-US" sz="120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예외 처리 :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05  AI 설계 : 기술 선택 근거 및 AI 출력 규격 (2/2)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69264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Service Design Document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1450" indent="-171450">
              <a:spcAft>
                <a:spcPts val="3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선택 근거 (사용한 기술만 작성)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185623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6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 근거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 : LLM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AI가 맡는 일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다른 방법 대신 이 기술을 선택한 이유 1~2줄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 : RAG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20040" y="3520440"/>
            <a:ext cx="11430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1450" indent="-171450">
              <a:spcAft>
                <a:spcPts val="3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출력 규격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886200"/>
            <a:ext cx="5486400" cy="2011680"/>
          </a:xfrm>
          <a:prstGeom prst="rect">
            <a:avLst/>
          </a:prstGeom>
          <a:solidFill>
            <a:srgbClr val="F2F2F2"/>
          </a:solidFill>
          <a:ln w="9525">
            <a:solidFill>
              <a:srgbClr val="808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5"/>
          <p:cNvSpPr txBox="1"/>
          <p:nvPr/>
        </p:nvSpPr>
        <p:spPr>
          <a:xfrm>
            <a:off x="685800" y="3950208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반환하는 결과의 형식과 조건 (필드, 값의 범위, 처리 실패 시 응답)</a:t>
            </a:r>
            <a:endParaRPr lang="en-US" sz="1150" dirty="0"/>
          </a:p>
          <a:p>
            <a:r>
              <a:rPr sz="1150" i="1">
                <a:solidFill>
                  <a:srgbClr val="A6A6A6"/>
                </a:solidFill>
                <a:latin typeface="Pretendard"/>
              </a:rPr>
              <a:t>예) status : ok · needs_review · denied</a:t>
            </a:r>
          </a:p>
          <a:p>
            <a:r>
              <a:rPr sz="1150" i="1">
                <a:solidFill>
                  <a:srgbClr val="A6A6A6"/>
                </a:solidFill>
                <a:latin typeface="Pretendard"/>
              </a:rPr>
              <a:t>     answer : 답변 문장,  sources : [ { doc, clause } ]</a:t>
            </a:r>
          </a:p>
          <a:p>
            <a:r>
              <a:rPr sz="1150" i="1">
                <a:solidFill>
                  <a:srgbClr val="A6A6A6"/>
                </a:solidFill>
                <a:latin typeface="Pretendard"/>
              </a:rPr>
              <a:t>     근거 없으면 needs_review, 권한 밖 문서면 denied</a:t>
            </a:r>
          </a:p>
        </p:txBody>
      </p:sp>
      <p:sp>
        <p:nvSpPr>
          <p:cNvPr id="9" name="Text 6"/>
          <p:cNvSpPr txBox="1"/>
          <p:nvPr/>
        </p:nvSpPr>
        <p:spPr>
          <a:xfrm>
            <a:off x="626364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1450" indent="-171450">
              <a:spcAft>
                <a:spcPts val="3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Mini-project ① 활용 내역</a:t>
            </a:r>
            <a:endParaRPr lang="en-US" sz="14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886200"/>
          <a:ext cx="5376672" cy="199339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3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활용 · 변경 내용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 : Wireframe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재사용한 화면, 추가 · 변경한 내용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16DF2BB-2F2D-A3F4-02C2-D0EC0FB0A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564</Words>
  <Application>Microsoft Macintosh PowerPoint</Application>
  <PresentationFormat>와이드스크린</PresentationFormat>
  <Paragraphs>120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 설계서</dc:title>
  <dc:subject>PptxGenJS Presentation</dc:subject>
  <dc:creator>김영희</dc:creator>
  <cp:lastModifiedBy>YoungHee Kim</cp:lastModifiedBy>
  <cp:revision>2</cp:revision>
  <dcterms:created xsi:type="dcterms:W3CDTF">2026-10-06T05:25:09Z</dcterms:created>
  <dcterms:modified xsi:type="dcterms:W3CDTF">2026-10-20T11:03:59Z</dcterms:modified>
</cp:coreProperties>
</file>
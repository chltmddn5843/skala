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안녕하십니까. AI 기반 제조 실행 시스템 설계를 주제로 발표하게 된 최승우입니다. 오늘은 이 순서로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 중에 혹시 제조 산업에 관심이 있는 분들 계신가요. 저는 학부 때 산업공학을 전공해 실제 생산 및 제조 현장에서는 다양한 AI, AX를 도입하려는 시도가 있음을 알 수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MES(Manufacturing Execution System)는 제조 현장에서 사용되는 모니터링 시스템으로, 주문부터 완제품 출하까지의 전 과정을 실시간으로 모니터링하고 제어하는 기능을 제공합니다. 말로만 들어도 복잡한 개발 요소가 있지만 AI 도입이 활발히 이뤄질 수 있는 시스템입니다. 이에 저는 핵심 기능 한 가지를 설정하여 설계하고, 그 안의 페인포인트를 해결하는 방향으로 개발했습니다.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제가 설정한 공정의 문제는 크게 두 가지입니다. 첫째, 설비 내 데이터 수집이 가능한 기기가 아닌 경우 MES 체계 편성이 어려워 LOT 이력을 연결하지 못합니다. 둘째, 공정 이후 육안 검사를 통해 이슈가 기입되는데, MES 전산 내 이슈를 수기로 기입하는 경우 검사 담당자에 따라 상이한 내용이 기입되고 있다는 문제가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문제를 느끼는 이해관계자는 3명으로 매칭했습니다. 생산관리자가 작업지시를 생성하면 작업자가 이를 확인하고 작업을 시작해 LOT 생산실적을 태블릿으로 수기 입력합니다. 작업 중 특이사항이 발생하면 작업자가 이상징후를 입력하고, 이 LOT은 품질담당자 대시보드에서 확인대기 상태로 자동 전환되며 AI를 통해 내용이 정규화됩니다. 품질담당자는 측정값을 입력해 서버 자동판정을 거쳐 검사를 확정하고, 관련 LOT 후보를 탐색한 뒤 AI 요약 초안으로 인수인계 내용을 정리해 최종 저장합니다.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액터와 권한 사항입니다. 생산관리자, 작업자, 품질담당자별로 권한이 부여되고 활용하는 기능이 다릅니다. 또한 이와 관련해 계정 권한, 작업 상태 등 에러 사항도 함께 정의해두었습니다.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UI 흐름도입니다. 3명의 실무자 분들이 이와 같은 흐름으로 화면을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UI와 연결된 화면 구성입니다. 로그인부터 검사 등록·AI 요약까지, 각 화면은 앞서 정의한 액터별 권한에 맞춰 설계했습니다.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모델은 기준정보, 생산 운영, 품질 검사, AI 인수인계 네 그룹으로 나눠 설계했습니다. work_orders와 production_lots가 LOT 이력의 중심이 되고, ai_summaries·summary_reviews가 AI 초안과 담당자 검토본을 분리해 보존합니다.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UI와 연결된 API 설계입니다. LOT 생산실적 등록부터 검사 확정, 관련 LOT 조회, AI 인수인계 초안 생성, 현황 집계까지 UI에서 발생하는 액션이 API를 거쳐 DB에 반영되는 흐름으로 설계했습니다.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기능은 서버 계산, AI 요약, 담당자 검토·확정 3단계로 책임을 분리했습니다. 원기록은 불변으로 유지되고, AI 초안과 검토본은 분리 보존되며, AI 장애가 발생해도 원기록은 유지되고 재시도가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새로운 기능을 추가하기보다 큰 틀을 설계해보고 구조 이해도를 높여보는 것이 목표였습니다. 구현해볼 수 있다면 이렇게 해볼 것이다라는 향후 발전 사항도 생각해볼 수 있었고, 사내 MES 시스템 기반 AI 솔루션을 고안할 수 있는 경험치를 쌓았습니다.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31375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100" kern="0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</a:t>
            </a:r>
            <a:pPr algn="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AX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판교 4반 · 미니프로젝트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A R T F L O 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제조 MES 설계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아날로그 설비의 수기 기록을 LOT 이력으로, 담당자의 인수인계를 AI 초안으로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219456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897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최승우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362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생산관리·품질추적 MES 웹서비스 기획 및 설계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 · 오늘 발표에서 다룰 내용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인트로 · 발표자 소개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75688"/>
            <a:ext cx="531860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67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167128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소개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531860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340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734056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 · 문제 정의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531860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3009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300984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 · 이해관계자와 해결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776472"/>
            <a:ext cx="531860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867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67912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액터 정의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434840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UI 흐름도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24448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27368" y="1600200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설계 개요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24448" y="2075688"/>
            <a:ext cx="531860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4448" y="2167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27368" y="2167128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 설계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24448" y="2642616"/>
            <a:ext cx="531860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4448" y="27340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27368" y="2734056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설계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24448" y="3209544"/>
            <a:ext cx="531860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24448" y="33009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827368" y="3300984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기능 설계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324448" y="3776472"/>
            <a:ext cx="531860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24448" y="3867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27368" y="3867912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느낀점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인트로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 소개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현장에도 AI/AX 도입 시도가 이어지고 있습니다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393338" cy="265176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1902409" y="3017520"/>
            <a:ext cx="685800" cy="68580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9" name="Image 0" descr="/home/claude/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7001" y="31821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3886200"/>
            <a:ext cx="2936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산업공학 전공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9768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학부에서 산업공학을 전공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42562" y="3867912"/>
            <a:ext cx="256032" cy="219456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3" name="Shape 10"/>
          <p:cNvSpPr/>
          <p:nvPr/>
        </p:nvSpPr>
        <p:spPr>
          <a:xfrm>
            <a:off x="4399178" y="2651760"/>
            <a:ext cx="3393338" cy="265176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/>
        </p:spPr>
      </p:sp>
      <p:sp>
        <p:nvSpPr>
          <p:cNvPr id="14" name="Shape 11"/>
          <p:cNvSpPr/>
          <p:nvPr/>
        </p:nvSpPr>
        <p:spPr>
          <a:xfrm>
            <a:off x="5752948" y="3017520"/>
            <a:ext cx="685800" cy="68580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5" name="Image 1" descr="/home/claude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540" y="3182112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27778" y="3886200"/>
            <a:ext cx="2936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AI/AX 도입 목격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673498" y="429768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생산·제조 현장의 다양한 AI, AX 도입 시도를 확인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893101" y="3867912"/>
            <a:ext cx="256032" cy="219456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9" name="Shape 15"/>
          <p:cNvSpPr/>
          <p:nvPr/>
        </p:nvSpPr>
        <p:spPr>
          <a:xfrm>
            <a:off x="8249717" y="2651760"/>
            <a:ext cx="3393338" cy="265176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/>
        </p:spPr>
      </p:sp>
      <p:sp>
        <p:nvSpPr>
          <p:cNvPr id="20" name="Shape 16"/>
          <p:cNvSpPr/>
          <p:nvPr/>
        </p:nvSpPr>
        <p:spPr>
          <a:xfrm>
            <a:off x="9603486" y="3017520"/>
            <a:ext cx="685800" cy="68580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1" name="Image 2" descr="/home/claude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8078" y="3182112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78317" y="3886200"/>
            <a:ext cx="29361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기획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524037" y="429768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핵심 기능 하나를 선정해 AI 적용 지점을 설계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소개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Manufacturing Execution System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FF6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554480"/>
            <a:ext cx="10454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MES는 </a:t>
            </a:r>
            <a:pPr indent="0" marL="0">
              <a:buNone/>
            </a:pPr>
            <a:r>
              <a:rPr lang="en-US" sz="14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주문부터 완제품 출하까지의 전 과정</a:t>
            </a:r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실시간으로 모니터링하고 제어하는, 제조 현장의 핵심 시스템입니다.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96312"/>
            <a:ext cx="19116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15842" y="2788920"/>
            <a:ext cx="777240" cy="77724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0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380" y="2975458"/>
            <a:ext cx="404165" cy="40416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3730752"/>
            <a:ext cx="20945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소재 대기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33437" y="3076956"/>
            <a:ext cx="237744" cy="201168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844333" y="2496312"/>
            <a:ext cx="19116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11535" y="2788920"/>
            <a:ext cx="777240" cy="77724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5" name="Image 1" descr="/home/claude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073" y="2975458"/>
            <a:ext cx="404165" cy="40416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52893" y="3730752"/>
            <a:ext cx="20945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 구멍 가공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829129" y="3076956"/>
            <a:ext cx="237744" cy="201168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140025" y="2496312"/>
            <a:ext cx="19116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707228" y="2788920"/>
            <a:ext cx="777240" cy="77724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0" name="Image 2" descr="/home/claude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765" y="2975458"/>
            <a:ext cx="404165" cy="40416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048585" y="3730752"/>
            <a:ext cx="20945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검사 대기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124822" y="3076956"/>
            <a:ext cx="237744" cy="201168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435718" y="2496312"/>
            <a:ext cx="19116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002920" y="2788920"/>
            <a:ext cx="777240" cy="77724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5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458" y="2975458"/>
            <a:ext cx="404165" cy="40416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344278" y="3730752"/>
            <a:ext cx="20945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치수 검사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(9.90–10.10mm)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420515" y="3076956"/>
            <a:ext cx="237744" cy="201168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731411" y="2496312"/>
            <a:ext cx="19116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0298613" y="2788920"/>
            <a:ext cx="777240" cy="77724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30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5150" y="2975458"/>
            <a:ext cx="404165" cy="40416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39971" y="3730752"/>
            <a:ext cx="209452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판정별 구분 보관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공정일수록 AI가 도울 여지가 큽니다 — 핵심 기능 하나를 선정해 설계했습니다.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문제 · PartFlow가 대상으로 삼은 공정의 한계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8" name="Image 0" descr="/home/claude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221540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926080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아날로그 설비와 정보 단절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429000"/>
            <a:ext cx="458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수집 장치가 없는 구형 설비(M1 등)는 생산 데이터가 자동으로 쌓이지 않아 작업자가 태블릿에 수기로 입력합니다. 이 기록이 후속 LOT 이력으로 곧바로 연결되지 못해 한눈에 파악하기 어렵습니다.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24448" y="1691640"/>
            <a:ext cx="5318608" cy="3246120"/>
          </a:xfrm>
          <a:prstGeom prst="roundRect">
            <a:avLst>
              <a:gd name="adj" fmla="val 2254"/>
            </a:avLst>
          </a:prstGeom>
          <a:solidFill>
            <a:srgbClr val="F3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6690208" y="2057400"/>
            <a:ext cx="658368" cy="65836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3" name="Image 1" descr="/home/claude/icons/file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216" y="221540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90208" y="2926080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입력·인수인계의 비효율성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6690208" y="3429000"/>
            <a:ext cx="458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이후 육안 검사로 이슈가 기입되며, 작업자가 남긴 여러 메모와 수기 기록을 담당자가 직접 취합해 인수인계 문서를 다시 작성해야 하는 번거로움이 있습니다. 담당자마다 기입 내용도 상이합니다.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1663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F293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48640" y="5166360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분산  →  LOT 중심 추적  →  인수인계 자동화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이해관계자 흐름과 PartFlow의 해결 방향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이해관계자 흐름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8" name="Image 0" descr="/home/claude/icons/mana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2230679"/>
            <a:ext cx="311810" cy="3118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2084832"/>
            <a:ext cx="456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생산관리자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2432304"/>
            <a:ext cx="456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 생성 · 상태 PLANNED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32104" y="2743200"/>
            <a:ext cx="0" cy="457200"/>
          </a:xfrm>
          <a:prstGeom prst="line">
            <a:avLst/>
          </a:prstGeom>
          <a:noFill/>
          <a:ln w="15875">
            <a:solidFill>
              <a:srgbClr val="E5E7EB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3" name="Image 1" descr="/home/claude/icons/wor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3327959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98448" y="3182112"/>
            <a:ext cx="456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 (핵심 연결점)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298448" y="3529584"/>
            <a:ext cx="456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시작(IN_PROGRESS) · LOT 실적·이상징후 입력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32104" y="3840480"/>
            <a:ext cx="0" cy="457200"/>
          </a:xfrm>
          <a:prstGeom prst="line">
            <a:avLst/>
          </a:prstGeom>
          <a:noFill/>
          <a:ln w="15875">
            <a:solidFill>
              <a:srgbClr val="E5E7EB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548640" y="4297680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8" name="Image 2" descr="/home/claude/icons/qua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4425239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98448" y="4279392"/>
            <a:ext cx="456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품질담당자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298448" y="4626864"/>
            <a:ext cx="456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 입력 → PASS/FAIL 확정 → AI 요약 검토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324448" y="1627632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해결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324448" y="2103120"/>
            <a:ext cx="5318608" cy="868680"/>
          </a:xfrm>
          <a:prstGeom prst="roundRect">
            <a:avLst>
              <a:gd name="adj" fmla="val 8421"/>
            </a:avLst>
          </a:prstGeom>
          <a:solidFill>
            <a:srgbClr val="FFF6EF"/>
          </a:solidFill>
          <a:ln/>
        </p:spPr>
      </p:sp>
      <p:sp>
        <p:nvSpPr>
          <p:cNvPr id="23" name="Shape 18"/>
          <p:cNvSpPr/>
          <p:nvPr/>
        </p:nvSpPr>
        <p:spPr>
          <a:xfrm>
            <a:off x="6543904" y="2253996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462" y="2381555"/>
            <a:ext cx="311810" cy="31181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57136" y="2103120"/>
            <a:ext cx="416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단위 생산-검사-메모 통합 조회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324448" y="3200400"/>
            <a:ext cx="5318608" cy="868680"/>
          </a:xfrm>
          <a:prstGeom prst="roundRect">
            <a:avLst>
              <a:gd name="adj" fmla="val 8421"/>
            </a:avLst>
          </a:prstGeom>
          <a:solidFill>
            <a:srgbClr val="FFF6EF"/>
          </a:solidFill>
          <a:ln/>
        </p:spPr>
      </p:sp>
      <p:sp>
        <p:nvSpPr>
          <p:cNvPr id="27" name="Shape 21"/>
          <p:cNvSpPr/>
          <p:nvPr/>
        </p:nvSpPr>
        <p:spPr>
          <a:xfrm>
            <a:off x="6543904" y="3351276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8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462" y="3478835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57136" y="3200400"/>
            <a:ext cx="416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생산·검사 현황과 부적합 내역 즉시 확인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324448" y="4297680"/>
            <a:ext cx="5318608" cy="868680"/>
          </a:xfrm>
          <a:prstGeom prst="roundRect">
            <a:avLst>
              <a:gd name="adj" fmla="val 8421"/>
            </a:avLst>
          </a:prstGeom>
          <a:solidFill>
            <a:srgbClr val="FFF6EF"/>
          </a:solidFill>
          <a:ln/>
        </p:spPr>
      </p:sp>
      <p:sp>
        <p:nvSpPr>
          <p:cNvPr id="31" name="Shape 24"/>
          <p:cNvSpPr/>
          <p:nvPr/>
        </p:nvSpPr>
        <p:spPr>
          <a:xfrm>
            <a:off x="6543904" y="4448556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32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1462" y="4576115"/>
            <a:ext cx="311810" cy="31181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257136" y="4297680"/>
            <a:ext cx="416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인수인계 초안 생성 · 단, AI는 판정하지 않음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548640" y="553212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548640" y="55321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작업자의 이상징후 입력 → 품질담당자 "확인대기" 자동 전환이 핵심 연결점입니다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액터 정의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권한을 분리하고, 상태 전이와 AI 책임 범위를 명확히 정의합니다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3776472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권한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제한 / 책임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생산관리자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작업지시 생성·종료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현황 조회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목표수량·마감·종료사유 관리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 조건과 지시 상태 전이 책임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시작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LOT 생산실적·이상징후 등록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중 지시에 LOT번호·수량·메모·설비·이상징후 입력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시작은 WAITING → IN_PROGRESS만 허용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품질담당자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등록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LOT 조회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요약 생성·검토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검사수량·유형별 부적합수량·메모 입력, 요약 검토본 저장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검사완료 LOT만 AI 요약 가능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AI 서비스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전달 기록 요약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사실·미확인 사항·다음 확인 질문으로 요약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합격·불합격·불량 원인·출하 가능 여부는 판단하지 않음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98932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검증 결과  ·  401 인증 실패     403 권한 없음     409 상태 충돌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UI 흐름도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3명의 실무자가 로그인부터 검사 확정까지 이어가는 화면 흐름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366495" y="2057400"/>
            <a:ext cx="9458706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3031" y="1773936"/>
            <a:ext cx="566928" cy="566928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031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542032"/>
            <a:ext cx="191002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3054096"/>
            <a:ext cx="191002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아이디·비밀번호로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세션 생성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28751" y="4251960"/>
            <a:ext cx="475488" cy="47548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2" name="Image 0" descr="/home/claude/icon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735" y="4358945"/>
            <a:ext cx="261518" cy="26151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11480" y="4828032"/>
            <a:ext cx="19100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974772" y="1773936"/>
            <a:ext cx="566928" cy="566928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74772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303221" y="2542032"/>
            <a:ext cx="191002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대시보드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303221" y="3054096"/>
            <a:ext cx="191002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생산·검사 운영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조회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020492" y="4251960"/>
            <a:ext cx="475488" cy="47548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9" name="Image 1" descr="/home/claude/icons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477" y="4358945"/>
            <a:ext cx="261518" cy="26151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303221" y="4828032"/>
            <a:ext cx="19100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866513" y="1773936"/>
            <a:ext cx="566928" cy="566928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866513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S03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194962" y="2542032"/>
            <a:ext cx="191002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4194962" y="3054096"/>
            <a:ext cx="191002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목표수량·마감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 생성·조회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912233" y="4251960"/>
            <a:ext cx="475488" cy="47548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6" name="Image 2" descr="/home/claude/icons/manag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218" y="4358945"/>
            <a:ext cx="261518" cy="26151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194962" y="4828032"/>
            <a:ext cx="19100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생산관리자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758254" y="1773936"/>
            <a:ext cx="566928" cy="566928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758254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S04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6086704" y="2542032"/>
            <a:ext cx="191002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실적·이상징후</a:t>
            </a:r>
            <a:endParaRPr lang="en-US" sz="1250" dirty="0"/>
          </a:p>
        </p:txBody>
      </p:sp>
      <p:sp>
        <p:nvSpPr>
          <p:cNvPr id="31" name="Text 26"/>
          <p:cNvSpPr txBox="1"/>
          <p:nvPr/>
        </p:nvSpPr>
        <p:spPr>
          <a:xfrm>
            <a:off x="6086704" y="3054096"/>
            <a:ext cx="191002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 LOT 등록,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이상징후 입력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803974" y="4251960"/>
            <a:ext cx="475488" cy="47548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33" name="Image 3" descr="/home/claude/icons/wor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959" y="4358945"/>
            <a:ext cx="261518" cy="26151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086704" y="4828032"/>
            <a:ext cx="19100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8649995" y="1773936"/>
            <a:ext cx="566928" cy="566928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649995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S05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7978445" y="2542032"/>
            <a:ext cx="191002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상세·AI 요약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7978445" y="3054096"/>
            <a:ext cx="191002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LOT 탐색,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요약 초안 생성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8695715" y="4251960"/>
            <a:ext cx="475488" cy="47548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40" name="Image 4" descr="/home/claude/icons/qual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700" y="4358945"/>
            <a:ext cx="261518" cy="261518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978445" y="4828032"/>
            <a:ext cx="19100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품질담당자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10541737" y="1773936"/>
            <a:ext cx="566928" cy="566928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10541737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S06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9870186" y="2542032"/>
            <a:ext cx="1910029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등록</a:t>
            </a:r>
            <a:endParaRPr lang="en-US" sz="1250" dirty="0"/>
          </a:p>
        </p:txBody>
      </p:sp>
      <p:sp>
        <p:nvSpPr>
          <p:cNvPr id="45" name="Text 38"/>
          <p:cNvSpPr txBox="1"/>
          <p:nvPr/>
        </p:nvSpPr>
        <p:spPr>
          <a:xfrm>
            <a:off x="9870186" y="3054096"/>
            <a:ext cx="191002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 입력 →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PASS/FAIL 확정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10587457" y="4251960"/>
            <a:ext cx="475488" cy="47548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47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4441" y="4358945"/>
            <a:ext cx="261518" cy="261518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9870186" y="4828032"/>
            <a:ext cx="19100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품질담당자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548640" y="553212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액터 흐름  ·  S01·S02 공통 → S03 생산관리자 → S04 작업자 → S05·S06 품질담당자</a:t>
            </a:r>
            <a:endParaRPr lang="en-US" sz="1150" dirty="0"/>
          </a:p>
        </p:txBody>
      </p:sp>
      <p:sp>
        <p:nvSpPr>
          <p:cNvPr id="51" name="Text 4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설계 개요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UI와 연결되는 6개 핵심 화면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15258" cy="2084832"/>
          </a:xfrm>
          <a:prstGeom prst="roundRect">
            <a:avLst>
              <a:gd name="adj" fmla="val 3070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29384"/>
            <a:ext cx="530352" cy="530352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8" name="Image 0" descr="/home/claude/icon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2048713"/>
            <a:ext cx="291694" cy="2916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44752" y="1911096"/>
            <a:ext cx="2417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444752" y="2130552"/>
            <a:ext cx="24179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/ 메인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606040"/>
            <a:ext cx="30031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기반 로그인과 생산·검사 현황 대시보드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38218" y="1691640"/>
            <a:ext cx="3515258" cy="2084832"/>
          </a:xfrm>
          <a:prstGeom prst="roundRect">
            <a:avLst>
              <a:gd name="adj" fmla="val 3070"/>
            </a:avLst>
          </a:prstGeom>
          <a:solidFill>
            <a:srgbClr val="F3F4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4250" y="1929384"/>
            <a:ext cx="530352" cy="530352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4" name="Image 1" descr="/home/claude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580" y="2048713"/>
            <a:ext cx="291694" cy="29169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34330" y="1911096"/>
            <a:ext cx="2417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생산관리자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234330" y="2130552"/>
            <a:ext cx="24179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94250" y="2606040"/>
            <a:ext cx="30031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목표수량·납기 등록, 지시 목록·상태 조회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27797" y="1691640"/>
            <a:ext cx="3515258" cy="2084832"/>
          </a:xfrm>
          <a:prstGeom prst="roundRect">
            <a:avLst>
              <a:gd name="adj" fmla="val 3070"/>
            </a:avLst>
          </a:prstGeom>
          <a:solidFill>
            <a:srgbClr val="F3F4F6"/>
          </a:solidFill>
          <a:ln/>
        </p:spPr>
      </p:sp>
      <p:sp>
        <p:nvSpPr>
          <p:cNvPr id="19" name="Shape 15"/>
          <p:cNvSpPr/>
          <p:nvPr/>
        </p:nvSpPr>
        <p:spPr>
          <a:xfrm>
            <a:off x="8383829" y="1929384"/>
            <a:ext cx="530352" cy="530352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0" name="Image 2" descr="/home/claude/icons/wor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158" y="2048713"/>
            <a:ext cx="291694" cy="29169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23909" y="1911096"/>
            <a:ext cx="2417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9023909" y="2130552"/>
            <a:ext cx="24179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 상세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383829" y="2606040"/>
            <a:ext cx="30031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시작, LOT 생산실적·이상징후 등록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050792"/>
            <a:ext cx="3515258" cy="2084832"/>
          </a:xfrm>
          <a:prstGeom prst="roundRect">
            <a:avLst>
              <a:gd name="adj" fmla="val 3070"/>
            </a:avLst>
          </a:prstGeom>
          <a:solidFill>
            <a:srgbClr val="F3F4F6"/>
          </a:solidFill>
          <a:ln/>
        </p:spPr>
      </p:sp>
      <p:sp>
        <p:nvSpPr>
          <p:cNvPr id="25" name="Shape 20"/>
          <p:cNvSpPr/>
          <p:nvPr/>
        </p:nvSpPr>
        <p:spPr>
          <a:xfrm>
            <a:off x="804672" y="4288536"/>
            <a:ext cx="530352" cy="530352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6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01" y="4407865"/>
            <a:ext cx="291694" cy="29169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44752" y="4270248"/>
            <a:ext cx="2417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품질담당자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1444752" y="4489704"/>
            <a:ext cx="24179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탐색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04672" y="4965192"/>
            <a:ext cx="30031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LOT별 생산·검사 이력 조회, 관련 LOT 후보 확인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38218" y="4050792"/>
            <a:ext cx="3515258" cy="2084832"/>
          </a:xfrm>
          <a:prstGeom prst="roundRect">
            <a:avLst>
              <a:gd name="adj" fmla="val 3070"/>
            </a:avLst>
          </a:prstGeom>
          <a:solidFill>
            <a:srgbClr val="F3F4F6"/>
          </a:solidFill>
          <a:ln/>
        </p:spPr>
      </p:sp>
      <p:sp>
        <p:nvSpPr>
          <p:cNvPr id="31" name="Shape 25"/>
          <p:cNvSpPr/>
          <p:nvPr/>
        </p:nvSpPr>
        <p:spPr>
          <a:xfrm>
            <a:off x="4594250" y="4288536"/>
            <a:ext cx="530352" cy="530352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32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580" y="4407865"/>
            <a:ext cx="291694" cy="29169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234330" y="4270248"/>
            <a:ext cx="2417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품질담당자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5234330" y="4489704"/>
            <a:ext cx="24179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등록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4594250" y="4965192"/>
            <a:ext cx="30031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 입력 → PASS/FAIL 자동 판정·확정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127797" y="4050792"/>
            <a:ext cx="3515258" cy="2084832"/>
          </a:xfrm>
          <a:prstGeom prst="roundRect">
            <a:avLst>
              <a:gd name="adj" fmla="val 3070"/>
            </a:avLst>
          </a:prstGeom>
          <a:solidFill>
            <a:srgbClr val="F3F4F6"/>
          </a:solidFill>
          <a:ln/>
        </p:spPr>
      </p:sp>
      <p:sp>
        <p:nvSpPr>
          <p:cNvPr id="37" name="Shape 30"/>
          <p:cNvSpPr/>
          <p:nvPr/>
        </p:nvSpPr>
        <p:spPr>
          <a:xfrm>
            <a:off x="8383829" y="4288536"/>
            <a:ext cx="530352" cy="530352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38" name="Image 5" descr="/home/claude/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158" y="4407865"/>
            <a:ext cx="291694" cy="291694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023909" y="4270248"/>
            <a:ext cx="24179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품질담당자</a:t>
            </a:r>
            <a:endParaRPr lang="en-US" sz="950" dirty="0"/>
          </a:p>
        </p:txBody>
      </p:sp>
      <p:sp>
        <p:nvSpPr>
          <p:cNvPr id="40" name="Text 32"/>
          <p:cNvSpPr txBox="1"/>
          <p:nvPr/>
        </p:nvSpPr>
        <p:spPr>
          <a:xfrm>
            <a:off x="9023909" y="4489704"/>
            <a:ext cx="241797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요약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8383829" y="4965192"/>
            <a:ext cx="300319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인수인계 초안 생성, 담당자 검토본 저장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모델 설계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기준정보 → 생산 운영 → 품질 검사 → AI 인수인계 순으로 이어지는 10개 테이블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33574" cy="3749040"/>
          </a:xfrm>
          <a:prstGeom prst="roundRect">
            <a:avLst>
              <a:gd name="adj" fmla="val 2887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1531963" y="2011680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8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522" y="2139239"/>
            <a:ext cx="311810" cy="3118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697480"/>
            <a:ext cx="22592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정보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14400" y="3054096"/>
            <a:ext cx="180205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18211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54787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91363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27939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inspection_specs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98348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권한·기준 데이터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41650" y="3520440"/>
            <a:ext cx="201168" cy="18288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7" name="Shape 14"/>
          <p:cNvSpPr/>
          <p:nvPr/>
        </p:nvSpPr>
        <p:spPr>
          <a:xfrm>
            <a:off x="3402254" y="1737360"/>
            <a:ext cx="2533574" cy="3749040"/>
          </a:xfrm>
          <a:prstGeom prst="roundRect">
            <a:avLst>
              <a:gd name="adj" fmla="val 2887"/>
            </a:avLst>
          </a:prstGeom>
          <a:solidFill>
            <a:srgbClr val="F3F4F6"/>
          </a:solidFill>
          <a:ln/>
        </p:spPr>
      </p:sp>
      <p:sp>
        <p:nvSpPr>
          <p:cNvPr id="18" name="Shape 15"/>
          <p:cNvSpPr/>
          <p:nvPr/>
        </p:nvSpPr>
        <p:spPr>
          <a:xfrm>
            <a:off x="4385577" y="2011680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9" name="Image 1" descr="/home/claude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136" y="2139239"/>
            <a:ext cx="311810" cy="31181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539414" y="2697480"/>
            <a:ext cx="22592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운영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3768014" y="3054096"/>
            <a:ext cx="180205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630854" y="318211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work_orders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3630854" y="354787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production_lots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3539414" y="498348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지시·LOT 생산 기록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95264" y="3520440"/>
            <a:ext cx="201168" cy="18288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26" name="Shape 22"/>
          <p:cNvSpPr/>
          <p:nvPr/>
        </p:nvSpPr>
        <p:spPr>
          <a:xfrm>
            <a:off x="6255868" y="1737360"/>
            <a:ext cx="2533574" cy="3749040"/>
          </a:xfrm>
          <a:prstGeom prst="roundRect">
            <a:avLst>
              <a:gd name="adj" fmla="val 2887"/>
            </a:avLst>
          </a:prstGeom>
          <a:solidFill>
            <a:srgbClr val="F3F4F6"/>
          </a:solidFill>
          <a:ln/>
        </p:spPr>
      </p:sp>
      <p:sp>
        <p:nvSpPr>
          <p:cNvPr id="27" name="Shape 23"/>
          <p:cNvSpPr/>
          <p:nvPr/>
        </p:nvSpPr>
        <p:spPr>
          <a:xfrm>
            <a:off x="7239191" y="2011680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8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749" y="2139239"/>
            <a:ext cx="311810" cy="31181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393028" y="2697480"/>
            <a:ext cx="22592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검사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6621628" y="3054096"/>
            <a:ext cx="180205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84468" y="318211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inspections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484468" y="354787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6393028" y="498348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검사·측정 결과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848877" y="3520440"/>
            <a:ext cx="201168" cy="18288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35" name="Shape 30"/>
          <p:cNvSpPr/>
          <p:nvPr/>
        </p:nvSpPr>
        <p:spPr>
          <a:xfrm>
            <a:off x="9109481" y="1737360"/>
            <a:ext cx="2533574" cy="3749040"/>
          </a:xfrm>
          <a:prstGeom prst="roundRect">
            <a:avLst>
              <a:gd name="adj" fmla="val 2887"/>
            </a:avLst>
          </a:prstGeom>
          <a:solidFill>
            <a:srgbClr val="F3F4F6"/>
          </a:solidFill>
          <a:ln/>
        </p:spPr>
      </p:sp>
      <p:sp>
        <p:nvSpPr>
          <p:cNvPr id="36" name="Shape 31"/>
          <p:cNvSpPr/>
          <p:nvPr/>
        </p:nvSpPr>
        <p:spPr>
          <a:xfrm>
            <a:off x="10092804" y="2011680"/>
            <a:ext cx="566928" cy="56692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37" name="Image 3" descr="/home/claude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0363" y="2139239"/>
            <a:ext cx="311810" cy="31181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246641" y="2697480"/>
            <a:ext cx="22592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인수인계</a:t>
            </a:r>
            <a:endParaRPr lang="en-US" sz="1350" dirty="0"/>
          </a:p>
        </p:txBody>
      </p:sp>
      <p:sp>
        <p:nvSpPr>
          <p:cNvPr id="39" name="Shape 33"/>
          <p:cNvSpPr/>
          <p:nvPr/>
        </p:nvSpPr>
        <p:spPr>
          <a:xfrm>
            <a:off x="9475241" y="3054096"/>
            <a:ext cx="180205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9338081" y="318211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ai_summaries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9338081" y="3547872"/>
            <a:ext cx="207637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summary_reviews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9246641" y="4983480"/>
            <a:ext cx="22592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초안·검토 이력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설계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→ API → Service 검증 → DB 순서로 반영되는 핵심 API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2286000"/>
                <a:gridCol w="55622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API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· 처리 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/api/work-orders/{id}/lots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LOT 생산실적 등록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중 지시에 LOT번호·수량·메모·설비 저장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/api/lots/{id}/inspection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확정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검사수량=생산수량 검증 · 부적합 합계로 PASS/FAIL · LOT당 1회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/api/lots/{id}/related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LOT 후보 조회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품목·설비·생산일 기준 탐색 · 미검사 LOT이면 400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/api/lots/{id}/ai-summaries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인수인계 초안 생성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성공·실패 모두 저장 · 재시도 시 새 행 추가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/api/dashboard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 집계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기간·품목 기준 생산량·검사량·부적합품률 계산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5623560"/>
            <a:ext cx="49071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에러 응답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검증오류 · 401 인증실패 · 403 권한없음 · 404 리소스없음 · 409 상태충돌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78728" y="5623560"/>
            <a:ext cx="5364328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07328" y="5623560"/>
            <a:ext cx="49071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구조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 · service · repository · domain · dto · config · exception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기능 설계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계산 → AI 요약 → 담당자 검토, 3단계로 책임을 분리합니다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54298" cy="26060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84248"/>
            <a:ext cx="548640" cy="54864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8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107692"/>
            <a:ext cx="301752" cy="3017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679192"/>
            <a:ext cx="29056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서버 계산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44952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원기록 기반으로 수량·비율·부적합 합계를 계산합니다.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AI에는 사실 데이터만 전달합니다.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4076090" y="2903220"/>
            <a:ext cx="219456" cy="18288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2" name="Shape 9"/>
          <p:cNvSpPr/>
          <p:nvPr/>
        </p:nvSpPr>
        <p:spPr>
          <a:xfrm>
            <a:off x="4368698" y="1691640"/>
            <a:ext cx="3454298" cy="2606040"/>
          </a:xfrm>
          <a:prstGeom prst="roundRect">
            <a:avLst>
              <a:gd name="adj" fmla="val 2807"/>
            </a:avLst>
          </a:prstGeom>
          <a:solidFill>
            <a:srgbClr val="FFF6EF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3018" y="1984248"/>
            <a:ext cx="548640" cy="54864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4" name="Image 1" descr="/home/claude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462" y="2107692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43018" y="2679192"/>
            <a:ext cx="29056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AI 요약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4643018" y="3044952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사실 / 미확인 사항 / 다음 확인 질문, 3단 인수인계 초안만 작성합니다.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원인·합격 여부·출하 가능 여부는 판단하지 않습니다.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7896149" y="2903220"/>
            <a:ext cx="219456" cy="182880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8" name="Shape 14"/>
          <p:cNvSpPr/>
          <p:nvPr/>
        </p:nvSpPr>
        <p:spPr>
          <a:xfrm>
            <a:off x="8188757" y="1691640"/>
            <a:ext cx="3454298" cy="2606040"/>
          </a:xfrm>
          <a:prstGeom prst="roundRect">
            <a:avLst>
              <a:gd name="adj" fmla="val 2807"/>
            </a:avLst>
          </a:prstGeom>
          <a:solidFill>
            <a:srgbClr val="F3F4F6"/>
          </a:solidFill>
          <a:ln/>
        </p:spPr>
      </p:sp>
      <p:sp>
        <p:nvSpPr>
          <p:cNvPr id="19" name="Shape 15"/>
          <p:cNvSpPr/>
          <p:nvPr/>
        </p:nvSpPr>
        <p:spPr>
          <a:xfrm>
            <a:off x="8463077" y="1984248"/>
            <a:ext cx="548640" cy="548640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20" name="Image 2" descr="/home/claude/icons/qua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21" y="2107692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63077" y="2679192"/>
            <a:ext cx="29056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담당자 검토·확정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463077" y="3044952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품질담당자가 검토문을 저장합니다.</a:t>
            </a:r>
            <a:endParaRPr lang="en-US" sz="10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summary_reviews에 이력이 추가됩니다.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548640" y="452628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1F2937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48640" y="452628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계산  →  AI 요약  →  담당자 최종 책임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48640" y="5257800"/>
            <a:ext cx="3515258" cy="502920"/>
          </a:xfrm>
          <a:prstGeom prst="roundRect">
            <a:avLst>
              <a:gd name="adj" fmla="val 49091"/>
            </a:avLst>
          </a:prstGeom>
          <a:solidFill>
            <a:srgbClr val="FFF6EF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548640" y="5257800"/>
            <a:ext cx="3515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원기록 불변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338218" y="5257800"/>
            <a:ext cx="3515258" cy="502920"/>
          </a:xfrm>
          <a:prstGeom prst="roundRect">
            <a:avLst>
              <a:gd name="adj" fmla="val 49091"/>
            </a:avLst>
          </a:prstGeom>
          <a:solidFill>
            <a:srgbClr val="FFF6E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338218" y="5257800"/>
            <a:ext cx="3515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초안과 검토본 분리 보존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127797" y="5257800"/>
            <a:ext cx="3515258" cy="502920"/>
          </a:xfrm>
          <a:prstGeom prst="roundRect">
            <a:avLst>
              <a:gd name="adj" fmla="val 49091"/>
            </a:avLst>
          </a:prstGeom>
          <a:solidFill>
            <a:srgbClr val="FFF6EF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8127797" y="5257800"/>
            <a:ext cx="35152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장애 시 원기록 유지 및 재시도 가능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580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34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느낀점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44607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MES에서 PartFlow는 무엇을 바꾸었는가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48840"/>
            <a:ext cx="658368" cy="65836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8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230684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017520"/>
            <a:ext cx="458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추가보다 구조 설계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474720"/>
            <a:ext cx="45870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기능을 더하기보다 큰 틀을 먼저 설계해보고, 시스템 전체에 대한 구조 이해도를 높이는 것을 목표로 삼았습니다.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24448" y="1783080"/>
            <a:ext cx="5318608" cy="292608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6690208" y="2148840"/>
            <a:ext cx="658368" cy="658368"/>
          </a:xfrm>
          <a:prstGeom prst="ellipse">
            <a:avLst/>
          </a:prstGeom>
          <a:solidFill>
            <a:srgbClr val="FDEBDD"/>
          </a:solidFill>
          <a:ln/>
        </p:spPr>
      </p:sp>
      <p:pic>
        <p:nvPicPr>
          <p:cNvPr id="13" name="Image 1" descr="/home/claude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216" y="230684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90208" y="3017520"/>
            <a:ext cx="458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확장 감각 습득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690208" y="3474720"/>
            <a:ext cx="45870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구현한다면 어떻게 발전시킬지 향후 방향을 함께 고민했고, 사내 MES 시스템 기반 AI 솔루션을 고안할 수 있는 경험치를 쌓았습니다.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경청해 주셔서 감사합니다. 질문 주시면 성심껏 답변드리겠습니다.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 · AI 기반 제조 MES 설계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9814255" y="6528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31375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100" kern="0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</a:t>
            </a:r>
            <a:pPr algn="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AX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0" y="265176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0" y="329184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PartFlow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272888" y="4434840"/>
            <a:ext cx="164592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판교 4반 · 최승우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2026-09-09T09:28:01Z</dcterms:created>
  <dcterms:modified xsi:type="dcterms:W3CDTF">2026-09-09T09:28:01Z</dcterms:modified>
</cp:coreProperties>
</file>
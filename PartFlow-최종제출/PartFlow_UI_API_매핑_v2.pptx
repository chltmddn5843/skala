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24700a367fd409f" /><Relationship Type="http://schemas.openxmlformats.org/officeDocument/2006/relationships/extended-properties" Target="/docProps/app.xml" Id="Ra475ee3260444392" /><Relationship Type="http://schemas.openxmlformats.org/officeDocument/2006/relationships/officeDocument" Target="/ppt/presentation.xml" Id="R58d849eb44b9414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5a7fbab543041ba"/>
  </p:sldMasterIdLst>
  <p:notesMasterIdLst>
    <p:notesMasterId xmlns:r="http://schemas.openxmlformats.org/officeDocument/2006/relationships" r:id="R1cd1ec044a544a3a"/>
  </p:notesMasterIdLst>
  <p:sldIdLst>
    <p:sldId xmlns:r="http://schemas.openxmlformats.org/officeDocument/2006/relationships" id="256" r:id="Ra19eaff58a6049af"/>
    <p:sldId xmlns:r="http://schemas.openxmlformats.org/officeDocument/2006/relationships" id="257" r:id="R112d29b38e9440a9"/>
    <p:sldId xmlns:r="http://schemas.openxmlformats.org/officeDocument/2006/relationships" id="258" r:id="Ra90e2f2c9b394367"/>
    <p:sldId xmlns:r="http://schemas.openxmlformats.org/officeDocument/2006/relationships" id="259" r:id="Raf8bb2af9d144b54"/>
    <p:sldId xmlns:r="http://schemas.openxmlformats.org/officeDocument/2006/relationships" id="260" r:id="R7a2e1570c22d4d81"/>
    <p:sldId xmlns:r="http://schemas.openxmlformats.org/officeDocument/2006/relationships" id="261" r:id="R8867ccb011394dc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da9325a5c574217" /><Relationship Type="http://schemas.openxmlformats.org/officeDocument/2006/relationships/slideMaster" Target="/ppt/slideMasters/slideMaster1.xml" Id="R75a7fbab543041ba" /><Relationship Type="http://schemas.openxmlformats.org/officeDocument/2006/relationships/notesMaster" Target="/ppt/notesMasters/notesMaster1.xml" Id="R1cd1ec044a544a3a" /><Relationship Type="http://schemas.openxmlformats.org/officeDocument/2006/relationships/presProps" Target="/ppt/presProps.xml" Id="R2d1fa894e16f4968" /><Relationship Type="http://schemas.openxmlformats.org/officeDocument/2006/relationships/tableStyles" Target="/ppt/tableStyles.xml" Id="Rb242941d5d004276" /><Relationship Type="http://schemas.openxmlformats.org/officeDocument/2006/relationships/slide" Target="/ppt/slides/slide1.xml" Id="Ra19eaff58a6049af" /><Relationship Type="http://schemas.openxmlformats.org/officeDocument/2006/relationships/slide" Target="/ppt/slides/slide2.xml" Id="R112d29b38e9440a9" /><Relationship Type="http://schemas.openxmlformats.org/officeDocument/2006/relationships/slide" Target="/ppt/slides/slide3.xml" Id="Ra90e2f2c9b394367" /><Relationship Type="http://schemas.openxmlformats.org/officeDocument/2006/relationships/slide" Target="/ppt/slides/slide4.xml" Id="Raf8bb2af9d144b54" /><Relationship Type="http://schemas.openxmlformats.org/officeDocument/2006/relationships/slide" Target="/ppt/slides/slide5.xml" Id="R7a2e1570c22d4d81" /><Relationship Type="http://schemas.openxmlformats.org/officeDocument/2006/relationships/slide" Target="/ppt/slides/slide6.xml" Id="R8867ccb011394dc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f3409b9a935448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a119c3fce4d4ba6" /><Relationship Type="http://schemas.openxmlformats.org/officeDocument/2006/relationships/notesMaster" Target="/ppt/notesMasters/notesMaster1.xml" Id="R892e5b6f9f6641c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731b3e4dd9b431e" /><Relationship Type="http://schemas.openxmlformats.org/officeDocument/2006/relationships/notesMaster" Target="/ppt/notesMasters/notesMaster1.xml" Id="Ra4c91127a2004e2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380a4f348714b4c" /><Relationship Type="http://schemas.openxmlformats.org/officeDocument/2006/relationships/notesMaster" Target="/ppt/notesMasters/notesMaster1.xml" Id="Re00edf6dc55940d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628298b307d4d67" /><Relationship Type="http://schemas.openxmlformats.org/officeDocument/2006/relationships/notesMaster" Target="/ppt/notesMasters/notesMaster1.xml" Id="R3fdb2a666b16415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d1ac12a1b274195" /><Relationship Type="http://schemas.openxmlformats.org/officeDocument/2006/relationships/notesMaster" Target="/ppt/notesMasters/notesMaster1.xml" Id="Rb4b10afc3ca0461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9e73ea1630f46e4" /><Relationship Type="http://schemas.openxmlformats.org/officeDocument/2006/relationships/notesMaster" Target="/ppt/notesMasters/notesMaster1.xml" Id="R071a87f5851e4d6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/Users/chltmddn5843/Downloads/skala/PartFlow-최종제출/PartFlow-API.yml; /Users/chltmddn5843/Downloads/skala/PartFlow-최종제출/PartFlow_API_설계.md. 화면 원본: /Users/chltmddn5843/Downloads/skala/wireframe/01.로그인.jpeg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/Users/chltmddn5843/Downloads/skala/PartFlow-최종제출/PartFlow-API.yml; /Users/chltmddn5843/Downloads/skala/PartFlow-최종제출/PartFlow_API_설계.md. 화면 원본: /Users/chltmddn5843/Downloads/skala/wireframe/02.메인페이지.jpeg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/Users/chltmddn5843/Downloads/skala/PartFlow-최종제출/PartFlow-API.yml; /Users/chltmddn5843/Downloads/skala/PartFlow-최종제출/PartFlow_API_설계.md. 화면 원본: /Users/chltmddn5843/Downloads/skala/wireframe/03.작업지시.jpeg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/Users/chltmddn5843/Downloads/skala/PartFlow-최종제출/PartFlow-API.yml; /Users/chltmddn5843/Downloads/skala/PartFlow-최종제출/PartFlow_API_설계.md. 화면 원본: /Users/chltmddn5843/Downloads/skala/wireframe/04.지시상세.jpeg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/Users/chltmddn5843/Downloads/skala/PartFlow-최종제출/PartFlow-API.yml; /Users/chltmddn5843/Downloads/skala/PartFlow-최종제출/PartFlow_API_설계.md. 화면 원본: /Users/chltmddn5843/Downloads/skala/wireframe/05.LOT상세.jpeg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/Users/chltmddn5843/Downloads/skala/PartFlow-최종제출/PartFlow-API.yml; /Users/chltmddn5843/Downloads/skala/PartFlow-최종제출/PartFlow_API_설계.md. 화면 원본: /Users/chltmddn5843/Downloads/skala/wireframe/06.검사등록.jpeg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e37ce9b7294d1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fb4c540e249487b" /><Relationship Type="http://schemas.openxmlformats.org/officeDocument/2006/relationships/slideLayout" Target="/ppt/slideLayouts/slideLayout1.xml" Id="Rec93d17d08be416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c93d17d08be416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97799575b74b11" /><Relationship Type="http://schemas.openxmlformats.org/officeDocument/2006/relationships/image" Target="/ppt/media/image.jpeg" Id="R36e323a82ac749e0" /><Relationship Type="http://schemas.openxmlformats.org/officeDocument/2006/relationships/notesSlide" Target="/ppt/notesSlides/notesSlide1.xml" Id="R51a288263aaa4fe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504c9e2fc6474c" /><Relationship Type="http://schemas.openxmlformats.org/officeDocument/2006/relationships/image" Target="/ppt/media/image2.jpeg" Id="R885069cb660c45d7" /><Relationship Type="http://schemas.openxmlformats.org/officeDocument/2006/relationships/notesSlide" Target="/ppt/notesSlides/notesSlide2.xml" Id="R1b299039363749a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523ec56e4d41b2" /><Relationship Type="http://schemas.openxmlformats.org/officeDocument/2006/relationships/image" Target="/ppt/media/image3.jpeg" Id="R87dc0fa37c494286" /><Relationship Type="http://schemas.openxmlformats.org/officeDocument/2006/relationships/notesSlide" Target="/ppt/notesSlides/notesSlide3.xml" Id="R2a610309dd964f2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c8e1d6c6ea4b6e" /><Relationship Type="http://schemas.openxmlformats.org/officeDocument/2006/relationships/image" Target="/ppt/media/image4.jpeg" Id="R0b7e4973cd824b2d" /><Relationship Type="http://schemas.openxmlformats.org/officeDocument/2006/relationships/notesSlide" Target="/ppt/notesSlides/notesSlide4.xml" Id="Rcbc4853bf776484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69da61a6b94683" /><Relationship Type="http://schemas.openxmlformats.org/officeDocument/2006/relationships/image" Target="/ppt/media/image5.jpeg" Id="R1eac003a0de04301" /><Relationship Type="http://schemas.openxmlformats.org/officeDocument/2006/relationships/notesSlide" Target="/ppt/notesSlides/notesSlide5.xml" Id="R8c8beefc3f0147a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84637934544826" /><Relationship Type="http://schemas.openxmlformats.org/officeDocument/2006/relationships/image" Target="/ppt/media/image6.jpeg" Id="Rc7545eb016f84786" /><Relationship Type="http://schemas.openxmlformats.org/officeDocument/2006/relationships/notesSlide" Target="/ppt/notesSlides/notesSlide6.xml" Id="R400fef0860444c8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3A025F-A6F1-4C56-BAEF-A3BDA9468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417B6E-247A-42DA-8D3F-93B4D6B51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876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UI 기능과 API 매핑 | 01 로그인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5F347F-3118-4E7E-8A93-6AC528406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23850"/>
            <a:ext cx="95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A94A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8A94A6"/>
                </a:solidFill>
                <a:latin typeface="Apple SD Gothic Neo"/>
                <a:ea typeface="Apple SD Gothic Neo"/>
                <a:cs typeface="Apple SD Gothic Neo"/>
              </a:rPr>
              <a:t>01 / 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4942AB-322E-4709-93A8-F0E53F6A6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6561" y="904875"/>
            <a:ext cx="4037279" cy="5486400"/>
          </a:xfrm>
          <a:prstGeom xmlns:a="http://schemas.openxmlformats.org/drawingml/2006/main" prst="roundRect">
            <a:avLst>
              <a:gd name="adj" fmla="val 18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e323a82ac749e0"/>
          <a:stretch xmlns:a="http://schemas.openxmlformats.org/drawingml/2006/main"/>
        </p:blipFill>
        <p:spPr>
          <a:xfrm xmlns:a="http://schemas.openxmlformats.org/drawingml/2006/main">
            <a:off x="1562761" y="981075"/>
            <a:ext cx="3884879" cy="53340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97D399-07AE-423A-90FA-B9BBD7DF9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2602" y="3582281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12AD42-C447-403C-8FBA-F260C49E4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2602" y="3591806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312EFD-CB81-4DCF-9D32-2640EA008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066800"/>
            <a:ext cx="485775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F42D97-920B-4415-8000-F80116D4D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12001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EC9AC7-96B2-4C59-8165-8951B954F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1200150"/>
            <a:ext cx="285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D5B12C-A46A-4154-98B8-E61A30EC8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190625"/>
            <a:ext cx="533400" cy="257175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EA580C"/>
          </a:solidFill>
          <a:ln xmlns:a="http://schemas.openxmlformats.org/drawingml/2006/main" w="0">
            <a:solidFill>
              <a:srgbClr val="EA580C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5705CA-1AA2-4DEB-BE88-81F9F0061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190625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POST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3E6F5A-F316-449B-9217-E4A20969F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162050"/>
            <a:ext cx="3600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A580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EA580C"/>
                </a:solidFill>
                <a:latin typeface="Apple SD Gothic Neo"/>
                <a:ea typeface="Apple SD Gothic Neo"/>
                <a:cs typeface="Apple SD Gothic Neo"/>
              </a:rPr>
              <a:t>/api/auth/login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614F27-8CA4-4F53-8A50-4B8D7213B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524000"/>
            <a:ext cx="45529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9415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394150"/>
                </a:solidFill>
                <a:latin typeface="Apple SD Gothic Neo"/>
                <a:ea typeface="Apple SD Gothic Neo"/>
                <a:cs typeface="Apple SD Gothic Neo"/>
              </a:rPr>
              <a:t>아이디·비밀번호를 확인하고 세션과 사용자 역할을 반환한다. 성공 후 MANAGER·OPERATOR·QUALITY에 맞는 첫 화면으로 이동한다.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3A92D3-A5EE-419C-8E2C-DEE96F319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667000"/>
            <a:ext cx="4857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DBA74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263D36-0B7E-4080-9324-25BD9E168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743200"/>
            <a:ext cx="455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A341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9A3412"/>
                </a:solidFill>
                <a:latin typeface="Apple SD Gothic Neo"/>
                <a:ea typeface="Apple SD Gothic Neo"/>
                <a:cs typeface="Apple SD Gothic Neo"/>
              </a:rPr>
              <a:t>역할별 데모 로그인 버튼도 동일한 로그인 API를 사용하고 계정만 다르다.</a:t>
            </a:r>
          </a:p>
        </p:txBody>
      </p:sp>
    </p:spTree>
    <p:extLst>
      <p:ext uri="{BB962C8B-B14F-4D97-AF65-F5344CB8AC3E}">
        <p14:creationId xmlns:p14="http://schemas.microsoft.com/office/powerpoint/2010/main" val="11324694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59118F2-A149-4631-9BE1-1E6154406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921BC9-F069-44BF-A37C-4D1BFCDD5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876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UI 기능과 API 매핑 | 02 메인페이지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B5C18B-0588-41DD-A315-DE9D212C1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23850"/>
            <a:ext cx="95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A94A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8A94A6"/>
                </a:solidFill>
                <a:latin typeface="Apple SD Gothic Neo"/>
                <a:ea typeface="Apple SD Gothic Neo"/>
                <a:cs typeface="Apple SD Gothic Neo"/>
              </a:rPr>
              <a:t>02 / 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022B8A-077F-4B5C-9E02-DAD3D3D13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633892"/>
            <a:ext cx="7962900" cy="3971216"/>
          </a:xfrm>
          <a:prstGeom xmlns:a="http://schemas.openxmlformats.org/drawingml/2006/main" prst="roundRect">
            <a:avLst>
              <a:gd name="adj" fmla="val 19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5069cb660c45d7"/>
          <a:stretch xmlns:a="http://schemas.openxmlformats.org/drawingml/2006/main"/>
        </p:blipFill>
        <p:spPr>
          <a:xfrm xmlns:a="http://schemas.openxmlformats.org/drawingml/2006/main">
            <a:off x="361950" y="1710092"/>
            <a:ext cx="7810500" cy="3818816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CD0CA9-DFFB-4F72-AB46-3A63E3A0D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0956" y="1755801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2A4F17-3FF9-44B2-86E3-F5804B518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0956" y="1765326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8C727D-91B1-473F-96DB-83515B92E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7898" y="4631699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67C502-6897-408E-A985-6BF9EAFA0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7898" y="4641224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FCEF0A-A0D7-4AF1-83AB-DF0EC2452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066800"/>
            <a:ext cx="333375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216F7B-E865-440B-905B-305F75C65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2001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EE77FE-561B-46F2-8C91-2DC6E225E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200150"/>
            <a:ext cx="285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4BDAB6-A327-42A4-9D0D-8F01BE56F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190625"/>
            <a:ext cx="533400" cy="257175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88E958-2D49-4CCB-AB3D-0D5C8E810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190625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GET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DADF4E-355F-4FE0-A06E-D2F27A6AD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162050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rPr>
              <a:t>/api/auth/me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FC610F-478B-425A-9B1C-5227F8C30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524000"/>
            <a:ext cx="30289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9415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394150"/>
                </a:solidFill>
                <a:latin typeface="Apple SD Gothic Neo"/>
                <a:ea typeface="Apple SD Gothic Neo"/>
                <a:cs typeface="Apple SD Gothic Neo"/>
              </a:rPr>
              <a:t>현재 로그인한 사용자의 이름과 역할을 조회해 상단에 표시한다.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B70DCA-26C3-423F-B79A-C7F07DA88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590800"/>
            <a:ext cx="333375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FE8BAA-B623-4EFE-8D39-3F4BFD644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7241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F637A1-9924-45CD-9D57-8EEFF3175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724150"/>
            <a:ext cx="285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34E0F1-F4F3-4825-A42D-FCD876AE3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714625"/>
            <a:ext cx="533400" cy="257175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EE5B2A-CBB6-4FC8-8BB6-B6ED3F0C5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714625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GET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86CDA9-EE7B-4BC9-869A-9991C08A1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686050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rPr>
              <a:t>/api/dashboard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B5A524-3383-4988-B243-D7F0CF540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048000"/>
            <a:ext cx="30289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9415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394150"/>
                </a:solidFill>
                <a:latin typeface="Apple SD Gothic Neo"/>
                <a:ea typeface="Apple SD Gothic Neo"/>
                <a:cs typeface="Apple SD Gothic Neo"/>
              </a:rPr>
              <a:t>오늘의 작업지시 실적과 품질 확인대기 LOT를 조회해 '오늘의 확인 항목'에 표시한다.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978C4E3-3BAE-4E75-9E86-4206717B1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191000"/>
            <a:ext cx="3333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DBA74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A965AD4-C4AB-4685-A0E0-0FBB6B9D8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267200"/>
            <a:ext cx="3028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A341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9A3412"/>
                </a:solidFill>
                <a:latin typeface="Apple SD Gothic Neo"/>
                <a:ea typeface="Apple SD Gothic Neo"/>
                <a:cs typeface="Apple SD Gothic Neo"/>
              </a:rPr>
              <a:t>작업지시·생산 기록·품질관리 카드는 화면 이동 기능이며 API를 직접 호출하지 않는다.</a:t>
            </a:r>
          </a:p>
        </p:txBody>
      </p:sp>
    </p:spTree>
    <p:extLst>
      <p:ext uri="{BB962C8B-B14F-4D97-AF65-F5344CB8AC3E}">
        <p14:creationId xmlns:p14="http://schemas.microsoft.com/office/powerpoint/2010/main" val="202746285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A43FADE-899F-426C-A59C-58491A20A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1A6565-730E-492A-89B9-0C7583F91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876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UI 기능과 API 매핑 | 03 작업지시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A1B6E6-7AE2-4AF6-985E-E5DB3AE2F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23850"/>
            <a:ext cx="95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A94A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8A94A6"/>
                </a:solidFill>
                <a:latin typeface="Apple SD Gothic Neo"/>
                <a:ea typeface="Apple SD Gothic Neo"/>
                <a:cs typeface="Apple SD Gothic Neo"/>
              </a:rPr>
              <a:t>03 / 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71AC0B-126D-4BBE-A354-55F525D6B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222519"/>
            <a:ext cx="7962900" cy="2793963"/>
          </a:xfrm>
          <a:prstGeom xmlns:a="http://schemas.openxmlformats.org/drawingml/2006/main" prst="roundRect">
            <a:avLst>
              <a:gd name="adj" fmla="val 27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</a:ln>
        </p:spPr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dc0fa37c494286"/>
          <a:stretch xmlns:a="http://schemas.openxmlformats.org/drawingml/2006/main"/>
        </p:blipFill>
        <p:spPr>
          <a:xfrm xmlns:a="http://schemas.openxmlformats.org/drawingml/2006/main">
            <a:off x="361950" y="2298719"/>
            <a:ext cx="7810500" cy="2641563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68930F-E97B-49D4-8C71-2D5C7D204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4733" y="3259667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09518C-FB63-455A-9917-FA082999C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4733" y="3269192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D57003-CAB0-454C-B278-BB3CED9C3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0705" y="2726787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A1FF60-AB51-4F5A-9797-690F7ECB7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0705" y="2736312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562E40-2E0F-466A-B2FB-17496FF38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521" y="3739259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B53916-10DF-4F31-A29C-1266FC027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521" y="3748784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715766-154B-4367-AFA4-B50C5E3CD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066800"/>
            <a:ext cx="333375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12FE05-0096-47F2-8F5D-063D46B34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2001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C9EA26-C856-4808-AED1-09EC1355C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200150"/>
            <a:ext cx="285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5C123A-C3E3-4169-952F-C4C298073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190625"/>
            <a:ext cx="533400" cy="257175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40DA13-E0AA-4753-A33B-BDE3C3E13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190625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GET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D598CD-6603-4234-8617-E0F2786E8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162050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rPr>
              <a:t>/api/work-orders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7FEB78-6192-461B-87B6-01C348CE5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524000"/>
            <a:ext cx="30289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9415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394150"/>
                </a:solidFill>
                <a:latin typeface="Apple SD Gothic Neo"/>
                <a:ea typeface="Apple SD Gothic Neo"/>
                <a:cs typeface="Apple SD Gothic Neo"/>
              </a:rPr>
              <a:t>작업지시 목록과 품목·진행률·납기·상태를 조회한다.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4BD805-FB02-462B-9880-635E30175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590800"/>
            <a:ext cx="333375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D2298D-731E-45EB-BA3F-FE5DB32D5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7241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91A2BC-3BDA-41C9-96A3-C1D4A98BF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724150"/>
            <a:ext cx="285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C9C1F7-CD59-4772-B68F-7FF59432D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714625"/>
            <a:ext cx="533400" cy="257175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EA580C"/>
          </a:solidFill>
          <a:ln xmlns:a="http://schemas.openxmlformats.org/drawingml/2006/main" w="0">
            <a:solidFill>
              <a:srgbClr val="EA580C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543FAF4-9903-41DA-B1B3-5DED8E0BF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714625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POST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CFFDDF2-FBBA-4978-96E8-46554B5C5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686050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A580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EA580C"/>
                </a:solidFill>
                <a:latin typeface="Apple SD Gothic Neo"/>
                <a:ea typeface="Apple SD Gothic Neo"/>
                <a:cs typeface="Apple SD Gothic Neo"/>
              </a:rPr>
              <a:t>/api/work-orders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426C4E8-23FD-4DD5-BC59-2B834F934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048000"/>
            <a:ext cx="30289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9415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394150"/>
                </a:solidFill>
                <a:latin typeface="Apple SD Gothic Neo"/>
                <a:ea typeface="Apple SD Gothic Neo"/>
                <a:cs typeface="Apple SD Gothic Neo"/>
              </a:rPr>
              <a:t>품목, 목표수량, 예정일을 받아 PLANNED 상태의 작업지시를 생성한다.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3821F33-3485-408F-9CA0-6ACAFEF1A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114800"/>
            <a:ext cx="333375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03B8CC5-8B89-47F5-9585-EBEC64892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2481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F91ED66-1A67-4985-92E1-FC3AA5FB0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248150"/>
            <a:ext cx="285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59E58AA-28A8-41B6-B3F8-575B9CF25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238625"/>
            <a:ext cx="533400" cy="257175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D98B481-3CEE-44EE-804C-99FDE00A3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238625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GET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7B313A5-1D97-4C43-9F60-AB2FEA178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210050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rPr>
              <a:t>/api/work-orders/{id}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B3F9A7A-DE77-4DBB-BB32-4D727991D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572000"/>
            <a:ext cx="30289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9415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394150"/>
                </a:solidFill>
                <a:latin typeface="Apple SD Gothic Neo"/>
                <a:ea typeface="Apple SD Gothic Neo"/>
                <a:cs typeface="Apple SD Gothic Neo"/>
              </a:rPr>
              <a:t>지시번호를 클릭하면 누적 생산량과 연결 LOT를 포함한 상세를 조회한다.</a:t>
            </a:r>
          </a:p>
        </p:txBody>
      </p:sp>
    </p:spTree>
    <p:extLst>
      <p:ext uri="{BB962C8B-B14F-4D97-AF65-F5344CB8AC3E}">
        <p14:creationId xmlns:p14="http://schemas.microsoft.com/office/powerpoint/2010/main" val="113424396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4736B1D-2DF7-4A6D-8B64-88C2E13B5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C89DF6-CF9A-4D12-AC05-C7300FBF7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876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UI 기능과 API 매핑 | 04 지시 상세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E2C44C-B937-4305-A572-42BDD1D14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23850"/>
            <a:ext cx="95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A94A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8A94A6"/>
                </a:solidFill>
                <a:latin typeface="Apple SD Gothic Neo"/>
                <a:ea typeface="Apple SD Gothic Neo"/>
                <a:cs typeface="Apple SD Gothic Neo"/>
              </a:rPr>
              <a:t>04 / 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993F2D-BBC2-488D-BC0A-1F19CD2DD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687" y="933450"/>
            <a:ext cx="7533025" cy="5372100"/>
          </a:xfrm>
          <a:prstGeom xmlns:a="http://schemas.openxmlformats.org/drawingml/2006/main" prst="roundRect">
            <a:avLst>
              <a:gd name="adj" fmla="val 14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</a:ln>
        </p:spPr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7e4973cd824b2d"/>
          <a:stretch xmlns:a="http://schemas.openxmlformats.org/drawingml/2006/main"/>
        </p:blipFill>
        <p:spPr>
          <a:xfrm xmlns:a="http://schemas.openxmlformats.org/drawingml/2006/main">
            <a:off x="576887" y="1009650"/>
            <a:ext cx="7380625" cy="52197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ED83A1-49DD-432E-B029-DF65B4DA2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5346" y="1368962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3A0F58-9ECA-408D-B779-7E50CC8C8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5346" y="1378487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A63BD1-F667-42E9-A6AE-428043B39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1144" y="1399397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40929A-BEA3-4C65-BB70-67235186D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1144" y="1408922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866EEA-2112-4938-9B15-DAAF4D7FE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857" y="3796198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65CFD8-D36B-4FCA-A7E1-BA793C033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857" y="3805723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1F242D-35CB-4276-A24D-F919A7EB1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941" y="5523417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4A1EED-02F2-47D4-B828-78563524E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941" y="5532942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764073-9963-411C-90D4-12EBA308F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066800"/>
            <a:ext cx="3333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CA300A-A3A4-4A03-9769-797F2484E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2001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BCEADD-4F21-4E47-80C8-E03C9C270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200150"/>
            <a:ext cx="285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3A35FD-3B7E-4D3B-A918-D20AF8BCC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190625"/>
            <a:ext cx="533400" cy="257175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AC8BB0-2BDC-4B33-B67B-D70CF8541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190625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GET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1940F9-CEF9-44C7-85F6-5FA20CDA6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162050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rPr>
              <a:t>/api/work-orders/{id}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95744D-747E-40FC-B1AB-B6C75A0EE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524000"/>
            <a:ext cx="3028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9415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394150"/>
                </a:solidFill>
                <a:latin typeface="Apple SD Gothic Neo"/>
                <a:ea typeface="Apple SD Gothic Neo"/>
                <a:cs typeface="Apple SD Gothic Neo"/>
              </a:rPr>
              <a:t>목표수량, 누적 실적, 진행률과 연결 LOT 목록을 조회한다.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F40CA8-8FBD-4A00-8072-C3FF88E3B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381250"/>
            <a:ext cx="3333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DE2ABC-9F58-4380-AECA-FF22E071A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5146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D6E12A-CD7D-4A07-A505-542AF48FF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514600"/>
            <a:ext cx="285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C49CDCE-65FC-4595-B0F2-FA31A1183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505075"/>
            <a:ext cx="533400" cy="257175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EA580C"/>
          </a:solidFill>
          <a:ln xmlns:a="http://schemas.openxmlformats.org/drawingml/2006/main" w="0">
            <a:solidFill>
              <a:srgbClr val="EA580C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1A75C0C-62DA-4CDA-8A49-32941ED42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505075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POST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D0294B5-AA8E-4CBF-AE9F-AF6064C9C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476500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A580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EA580C"/>
                </a:solidFill>
                <a:latin typeface="Apple SD Gothic Neo"/>
                <a:ea typeface="Apple SD Gothic Neo"/>
                <a:cs typeface="Apple SD Gothic Neo"/>
              </a:rPr>
              <a:t>/api/work-orders/{id}/close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49ACBEE-C4F9-4A7D-8415-564D25DAB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838450"/>
            <a:ext cx="3028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9415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394150"/>
                </a:solidFill>
                <a:latin typeface="Apple SD Gothic Neo"/>
                <a:ea typeface="Apple SD Gothic Neo"/>
                <a:cs typeface="Apple SD Gothic Neo"/>
              </a:rPr>
              <a:t>진행 중인 작업지시를 종료한다. 목표 미달이면 종료 사유를 함께 저장한다.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A7D9F25-3867-46B9-ABF7-4F4BAD410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695700"/>
            <a:ext cx="3333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F74E95C-5A3D-4B89-9148-3B72A5C29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8290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835FB75-8550-4750-82D2-1D0835BC2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829050"/>
            <a:ext cx="285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C744120-9B77-4773-A0B5-9214FBAA2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819525"/>
            <a:ext cx="533400" cy="257175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EA580C"/>
          </a:solidFill>
          <a:ln xmlns:a="http://schemas.openxmlformats.org/drawingml/2006/main" w="0">
            <a:solidFill>
              <a:srgbClr val="EA580C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480E754-992F-468C-99CA-EE231B210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819525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POST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B66BCE4-8252-482F-A038-E3379FB38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790950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A580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EA580C"/>
                </a:solidFill>
                <a:latin typeface="Apple SD Gothic Neo"/>
                <a:ea typeface="Apple SD Gothic Neo"/>
                <a:cs typeface="Apple SD Gothic Neo"/>
              </a:rPr>
              <a:t>/api/work-orders/{id}/lots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A304456-A82B-4C6F-B62F-00B5D2405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152900"/>
            <a:ext cx="3028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9415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394150"/>
                </a:solidFill>
                <a:latin typeface="Apple SD Gothic Neo"/>
                <a:ea typeface="Apple SD Gothic Neo"/>
                <a:cs typeface="Apple SD Gothic Neo"/>
              </a:rPr>
              <a:t>LOT 번호·설비·수량·생산시간을 저장하고 지시의 누적 실적을 갱신한다.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CF9B3F2-FA47-4D50-B0D3-9736184CA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010150"/>
            <a:ext cx="3333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AC0DCC0-BDFE-4B8D-BFBD-9DCBF3583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51435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2732245-6EA3-4747-B874-FF68B3941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5143500"/>
            <a:ext cx="285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8E110E7-C175-4DEC-B0AE-48892A06C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133975"/>
            <a:ext cx="533400" cy="257175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EA580C"/>
          </a:solidFill>
          <a:ln xmlns:a="http://schemas.openxmlformats.org/drawingml/2006/main" w="0">
            <a:solidFill>
              <a:srgbClr val="EA580C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C450395-CD9C-46F9-9254-416F083F7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133975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POST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C6BE0CC-CDC9-443E-AC03-E8C42750E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5410200"/>
            <a:ext cx="3028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A580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EA580C"/>
                </a:solidFill>
                <a:latin typeface="Apple SD Gothic Neo"/>
                <a:ea typeface="Apple SD Gothic Neo"/>
                <a:cs typeface="Apple SD Gothic Neo"/>
              </a:rPr>
              <a:t>/api/work-orders/{id}/lots/{lotId}/anomalies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C1425F5-94D3-4FAB-8CC3-2CFD6A944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5638800"/>
            <a:ext cx="3028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9415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394150"/>
                </a:solidFill>
                <a:latin typeface="Apple SD Gothic Neo"/>
                <a:ea typeface="Apple SD Gothic Neo"/>
                <a:cs typeface="Apple SD Gothic Neo"/>
              </a:rPr>
              <a:t>이상 유형·발생시각·관찰 메모를 저장해 LOT를 품질 확인대기 대상으로 표시한다.</a:t>
            </a:r>
          </a:p>
        </p:txBody>
      </p:sp>
    </p:spTree>
    <p:extLst>
      <p:ext uri="{BB962C8B-B14F-4D97-AF65-F5344CB8AC3E}">
        <p14:creationId xmlns:p14="http://schemas.microsoft.com/office/powerpoint/2010/main" val="112317848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BAB3907-79CE-47B5-91E9-17172D51E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B09616-79A2-41D0-829E-584F0D0DE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876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UI 기능과 API 매핑 | 05 LOT 상세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836454-6266-4AD7-B0EF-807D45480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23850"/>
            <a:ext cx="95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A94A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8A94A6"/>
                </a:solidFill>
                <a:latin typeface="Apple SD Gothic Neo"/>
                <a:ea typeface="Apple SD Gothic Neo"/>
                <a:cs typeface="Apple SD Gothic Neo"/>
              </a:rPr>
              <a:t>05 / 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08E785-48F2-4471-A08E-DEC8EE83D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081735"/>
            <a:ext cx="7962900" cy="5075529"/>
          </a:xfrm>
          <a:prstGeom xmlns:a="http://schemas.openxmlformats.org/drawingml/2006/main" prst="roundRect">
            <a:avLst>
              <a:gd name="adj" fmla="val 150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ac003a0de04301"/>
          <a:stretch xmlns:a="http://schemas.openxmlformats.org/drawingml/2006/main"/>
        </p:blipFill>
        <p:spPr>
          <a:xfrm xmlns:a="http://schemas.openxmlformats.org/drawingml/2006/main">
            <a:off x="361950" y="1157935"/>
            <a:ext cx="7810500" cy="4923129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7B85F3-CEAF-46A9-8905-8EDA2F69E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4558" y="1534138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8C678A-95BE-4DC1-8BE5-6F9FF6FA6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4558" y="1543663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895361-B1BC-4F13-9A1B-0E51445FD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0087" y="4421509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8F7707-6D0A-4FA0-89D4-D6659778D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0087" y="4431034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09AC87-693B-49C9-8DEB-4B95CD0CC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87" y="4810817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AEDCC6-5614-4AE8-BF3E-F200D9299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87" y="4820342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58A683-0791-42F6-8721-226A1CCC9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066800"/>
            <a:ext cx="333375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6F329D-F7EF-4459-90B4-F807549CE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2001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E7EF28-A0FE-4A20-8AE2-1D4B85A56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200150"/>
            <a:ext cx="285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8332E4-3A04-45E8-9E4C-EF693FF7B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190625"/>
            <a:ext cx="533400" cy="257175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ED042A-E206-440E-BEE6-5DBDED535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190625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GET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EDECC0-5BD6-4AE5-9902-E1A97BC65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162050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rPr>
              <a:t>/api/lots/{id}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5769D2-BD40-438F-AE36-E39E8D2DC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524000"/>
            <a:ext cx="30289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9415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394150"/>
                </a:solidFill>
                <a:latin typeface="Apple SD Gothic Neo"/>
                <a:ea typeface="Apple SD Gothic Neo"/>
                <a:cs typeface="Apple SD Gothic Neo"/>
              </a:rPr>
              <a:t>LOT의 생산·규격·검사결과·AI 요약 이력을 한 번에 조회한다.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804FFB-8EC5-4086-8A46-2406DF537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590800"/>
            <a:ext cx="333375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7C6971-D2DA-4472-AE5E-5A0268D56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7241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6A6649-F66B-49E0-A5ED-19F8A7428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724150"/>
            <a:ext cx="285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A0539D-7AFA-4DEF-9CD0-B77C66BFF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714625"/>
            <a:ext cx="533400" cy="257175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75BEA4-022E-408D-8902-E7901994C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714625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GET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39E17B1-0C7D-4F8A-A5EB-380BB3D1E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686050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rPr>
              <a:t>/api/lots/{id}/related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49CCF60-E2E5-47F3-A1A6-E7D86C2BC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048000"/>
            <a:ext cx="30289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9415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394150"/>
                </a:solidFill>
                <a:latin typeface="Apple SD Gothic Neo"/>
                <a:ea typeface="Apple SD Gothic Neo"/>
                <a:cs typeface="Apple SD Gothic Neo"/>
              </a:rPr>
              <a:t>같은 품목·설비·생산일을 기준으로 관련 LOT 후보를 조회한다.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ACB6B2E-A926-4845-A560-E67379C4E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114800"/>
            <a:ext cx="333375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4C481F8-596F-4A05-A0EC-97860D6EE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2481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83BEED5-1A08-4D03-96D3-F40F89EC5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248150"/>
            <a:ext cx="285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211D639-8912-4896-85C7-1CEBD6C7B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238625"/>
            <a:ext cx="533400" cy="257175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EA580C"/>
          </a:solidFill>
          <a:ln xmlns:a="http://schemas.openxmlformats.org/drawingml/2006/main" w="0">
            <a:solidFill>
              <a:srgbClr val="EA580C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8FF806C-3133-4F39-978A-818FF4D94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238625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POST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4A72580-38C8-4C45-BFFC-7EED4CBF2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210050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A580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EA580C"/>
                </a:solidFill>
                <a:latin typeface="Apple SD Gothic Neo"/>
                <a:ea typeface="Apple SD Gothic Neo"/>
                <a:cs typeface="Apple SD Gothic Neo"/>
              </a:rPr>
              <a:t>/api/lots/{id}/ai-summaries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0272ED0-DDC3-4DAD-8B25-B5CA5A6CF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572000"/>
            <a:ext cx="30289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9415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394150"/>
                </a:solidFill>
                <a:latin typeface="Apple SD Gothic Neo"/>
                <a:ea typeface="Apple SD Gothic Neo"/>
                <a:cs typeface="Apple SD Gothic Neo"/>
              </a:rPr>
              <a:t>선택한 relatedLotIds와 기준 LOT를 함께 분석해 AI 요약을 생성하고 근거 LOT 스냅샷을 저장한다.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954467F-21E4-4290-9845-311DE3981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715000"/>
            <a:ext cx="3333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DBA74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CB75294-1F48-451F-BE56-28BED51E8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5791200"/>
            <a:ext cx="3028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A341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9A3412"/>
                </a:solidFill>
                <a:latin typeface="Apple SD Gothic Neo"/>
                <a:ea typeface="Apple SD Gothic Neo"/>
                <a:cs typeface="Apple SD Gothic Neo"/>
              </a:rPr>
              <a:t>AI 요약은 검사가 확정된 LOT에서만 생성할 수 있다.</a:t>
            </a:r>
          </a:p>
        </p:txBody>
      </p:sp>
    </p:spTree>
    <p:extLst>
      <p:ext uri="{BB962C8B-B14F-4D97-AF65-F5344CB8AC3E}">
        <p14:creationId xmlns:p14="http://schemas.microsoft.com/office/powerpoint/2010/main" val="57097863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8F0308F-03C4-4815-AF3A-BE36CD2D8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3ED1A2-B5ED-469C-9C73-98D1FA6EF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876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UI 기능과 API 매핑 | 06 검사 등록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F2D993-A6FF-4B2C-A347-11A1ACBAA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23850"/>
            <a:ext cx="95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8A94A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8A94A6"/>
                </a:solidFill>
                <a:latin typeface="Apple SD Gothic Neo"/>
                <a:ea typeface="Apple SD Gothic Neo"/>
                <a:cs typeface="Apple SD Gothic Neo"/>
              </a:rPr>
              <a:t>06 / 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E2A251-439E-4702-98F7-D3005AEF7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422977"/>
            <a:ext cx="7962900" cy="4393047"/>
          </a:xfrm>
          <a:prstGeom xmlns:a="http://schemas.openxmlformats.org/drawingml/2006/main" prst="roundRect">
            <a:avLst>
              <a:gd name="adj" fmla="val 17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545eb016f84786"/>
          <a:stretch xmlns:a="http://schemas.openxmlformats.org/drawingml/2006/main"/>
        </p:blipFill>
        <p:spPr>
          <a:xfrm xmlns:a="http://schemas.openxmlformats.org/drawingml/2006/main">
            <a:off x="361950" y="1499177"/>
            <a:ext cx="7810500" cy="4240647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6036A7-150B-4957-BD95-D3FF948F6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9539" y="1911441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B379CC-52E0-4BA9-BE19-279F33A40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9539" y="1920966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E6E233-A619-4553-89B5-1ABEDFACB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50" y="508036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F09DB0-A14F-40BD-A0E3-A245B2ED6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50" y="5089885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4A3BF7-6973-4216-BF95-DD7879768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066800"/>
            <a:ext cx="333375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AA5642-DC7A-41C0-A0FA-F8E3BAD62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2001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8D4664-6AEA-43EC-92A1-C6EE607B9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200150"/>
            <a:ext cx="285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466805-28C3-4BE2-8512-27B7F8BE6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190625"/>
            <a:ext cx="533400" cy="257175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C58F0D-BB34-43E0-8839-20CD08A0D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190625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GET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0023B1-0B4A-4D6C-BF6D-B6D18DB28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162050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0F766E"/>
                </a:solidFill>
                <a:latin typeface="Apple SD Gothic Neo"/>
                <a:ea typeface="Apple SD Gothic Neo"/>
                <a:cs typeface="Apple SD Gothic Neo"/>
              </a:rPr>
              <a:t>/api/lots/{id}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A9928E-5083-4147-AAA9-376B357A2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524000"/>
            <a:ext cx="30289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9415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394150"/>
                </a:solidFill>
                <a:latin typeface="Apple SD Gothic Neo"/>
                <a:ea typeface="Apple SD Gothic Neo"/>
                <a:cs typeface="Apple SD Gothic Neo"/>
              </a:rPr>
              <a:t>LOT 수량과 생산 시점의 규격을 조회해 측정값 입력 화면을 구성한다.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40C827-C28A-4F0D-9ADA-4F9C2AD5A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590800"/>
            <a:ext cx="333375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E8454D-285A-4D5B-8375-803A5A56E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7241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46A7D1-B892-431F-9BDE-45F02FE93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724150"/>
            <a:ext cx="285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34E329-8EC9-4444-B9FE-A727E1CE9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714625"/>
            <a:ext cx="533400" cy="257175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EA580C"/>
          </a:solidFill>
          <a:ln xmlns:a="http://schemas.openxmlformats.org/drawingml/2006/main" w="0">
            <a:solidFill>
              <a:srgbClr val="EA580C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7CD8A6-2C75-4AE4-9664-C4E9B8C9C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714625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POST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E7D78E-2E5B-477F-AB65-DC89D205F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686050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A580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EA580C"/>
                </a:solidFill>
                <a:latin typeface="Apple SD Gothic Neo"/>
                <a:ea typeface="Apple SD Gothic Neo"/>
                <a:cs typeface="Apple SD Gothic Neo"/>
              </a:rPr>
              <a:t>/api/lots/{id}/inspection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C8516D-2F2E-4331-B748-640B17CA1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048000"/>
            <a:ext cx="30289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9415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394150"/>
                </a:solidFill>
                <a:latin typeface="Apple SD Gothic Neo"/>
                <a:ea typeface="Apple SD Gothic Neo"/>
                <a:cs typeface="Apple SD Gothic Neo"/>
              </a:rPr>
              <a:t>제품 순번별 측정값과 검사 메모를 저장한다. 서버가 9.90~10.10 mm 규격과 비교해 PASS/FAIL을 계산한다.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98A6602-25C6-489E-9D6F-047490AE3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191000"/>
            <a:ext cx="3333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DBA74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76FFF25-42FC-4C23-BA5D-0F9B75A3B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267200"/>
            <a:ext cx="3028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A341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9A3412"/>
                </a:solidFill>
                <a:latin typeface="Apple SD Gothic Neo"/>
                <a:ea typeface="Apple SD Gothic Neo"/>
                <a:cs typeface="Apple SD Gothic Neo"/>
              </a:rPr>
              <a:t>측정값 개수가 LOT 생산수량과 다르면 확정을 거절하며, LOT당 검사는 1회만 확정한다.</a:t>
            </a:r>
          </a:p>
        </p:txBody>
      </p:sp>
    </p:spTree>
    <p:extLst>
      <p:ext uri="{BB962C8B-B14F-4D97-AF65-F5344CB8AC3E}">
        <p14:creationId xmlns:p14="http://schemas.microsoft.com/office/powerpoint/2010/main" val="154447167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2026-09-09T11:12:18.2830000Z</dcterms:created>
  <dcterms:modified xsi:type="dcterms:W3CDTF">2026-09-09T11:12:18.2830000Z</dcterms:modified>
</coreProperties>
</file>
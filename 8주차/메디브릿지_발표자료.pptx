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발표의 핵심은 개발량보다 이해관계자 가치, 스프린트 의사결정, MSA 통신 경험입니다.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CSO 현장 영업사원이 아니라 플랫폼 도입을 결정하는 CSO 운영사를 핵심 고객으로 둡니다.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Shape 1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첨부 그림의 고급 분석 표현은 발전 방향입니다. 현재 MVP는 최빈 카테고리와 미구매 제품을 이용한 규칙 기반 추천입니다.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image: User Interface and-2026-09-03-054358.png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우선순위는 단순 중요도뿐 아니라 선행 데이터와 5시간 실습 제약을 함께 반영했습니다.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https://docs.google.com/spreadsheets/d/1X3ji7XSqgxXPO-5Ch4LrFJRvc-r4a7HmHxNoIaG5vfA/edit?gid=1939221835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hape 2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Sprint 1 실행표에는 다섯 단계가 완료로 기록되어 있습니다.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https://docs.google.com/spreadsheets/d/1X3ji7XSqgxXPO-5Ch4LrFJRvc-r4a7HmHxNoIaG5vfA/edit?gid=1939221835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6" name="Shape 2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발표에서는 코드가 실제로 보장하는 상태만 설명합니다.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Shape 2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같은 서비스 안에서는 계층과 트랜잭션 경계로 격리하고, 서비스 간에는 API 계약과 이벤트로 결합도를 낮춥니다.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실습 템플릿의 컬럼명(user_id, course_id)은 일부 유지되어 있으며 발표에서는 도메인 의미를 함께 설명합니다.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image: DBerd.png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Shape 2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실제 Swagger 응답과 기존 코드 경로를 기준으로 정리했습니다.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4" name="Shape 2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 화면들은 UI 스냅샷이 아니라 Swagger API 응답 증적입니다.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Shape 2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현재 구현과 발전 방향을 분리해 설명합니다.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https://docs.google.com/spreadsheets/d/1X3ji7XSqgxXPO-5Ch4LrFJRvc-r4a7HmHxNoIaG5vfA/edit?gid=1939221835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3243262" y="6795050"/>
            <a:ext cx="9764891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프레젠테이션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프레젠테이션 제목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/>
          <p:nvPr>
            <p:ph type="pic" idx="21"/>
          </p:nvPr>
        </p:nvSpPr>
        <p:spPr>
          <a:xfrm>
            <a:off x="2195688" y="948266"/>
            <a:ext cx="11887202" cy="71195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프레젠테이션 제목"/>
          <p:cNvSpPr txBox="1"/>
          <p:nvPr>
            <p:ph type="title" hasCustomPrompt="1"/>
          </p:nvPr>
        </p:nvSpPr>
        <p:spPr>
          <a:xfrm>
            <a:off x="3245555" y="4690533"/>
            <a:ext cx="9764890" cy="2065868"/>
          </a:xfrm>
          <a:prstGeom prst="rect">
            <a:avLst/>
          </a:prstGeom>
        </p:spPr>
        <p:txBody>
          <a:bodyPr/>
          <a:lstStyle/>
          <a:p>
            <a:pPr/>
            <a:r>
              <a:t>프레젠테이션 제목</a:t>
            </a:r>
          </a:p>
        </p:txBody>
      </p:sp>
      <p:sp>
        <p:nvSpPr>
          <p:cNvPr id="23" name="저자 및 날짜"/>
          <p:cNvSpPr txBox="1"/>
          <p:nvPr>
            <p:ph type="body" sz="quarter" idx="22" hasCustomPrompt="1"/>
          </p:nvPr>
        </p:nvSpPr>
        <p:spPr>
          <a:xfrm>
            <a:off x="3246084" y="2015616"/>
            <a:ext cx="9763833" cy="283103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pPr/>
            <a:r>
              <a:t>저자 및 날짜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3245555" y="6683960"/>
            <a:ext cx="9764890" cy="496423"/>
          </a:xfrm>
          <a:prstGeom prst="rect">
            <a:avLst/>
          </a:prstGeom>
        </p:spPr>
        <p:txBody>
          <a:bodyPr/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/>
          <p:nvPr>
            <p:ph type="pic" sz="half" idx="21"/>
          </p:nvPr>
        </p:nvSpPr>
        <p:spPr>
          <a:xfrm>
            <a:off x="7586133" y="1433688"/>
            <a:ext cx="5397706" cy="62822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슬라이드 제목"/>
          <p:cNvSpPr txBox="1"/>
          <p:nvPr>
            <p:ph type="title" hasCustomPrompt="1"/>
          </p:nvPr>
        </p:nvSpPr>
        <p:spPr>
          <a:xfrm>
            <a:off x="3245555" y="2088444"/>
            <a:ext cx="4346223" cy="2614344"/>
          </a:xfrm>
          <a:prstGeom prst="rect">
            <a:avLst/>
          </a:prstGeom>
        </p:spPr>
        <p:txBody>
          <a:bodyPr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34" name="본문 첫 번째 줄…"/>
          <p:cNvSpPr txBox="1"/>
          <p:nvPr>
            <p:ph type="body" sz="quarter" idx="1" hasCustomPrompt="1"/>
          </p:nvPr>
        </p:nvSpPr>
        <p:spPr>
          <a:xfrm>
            <a:off x="3245555" y="4662034"/>
            <a:ext cx="4346223" cy="2393522"/>
          </a:xfrm>
          <a:prstGeom prst="rect">
            <a:avLst/>
          </a:prstGeom>
        </p:spPr>
        <p:txBody>
          <a:bodyPr/>
          <a:lstStyle/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 numCol="2" spcCol="488244"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61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파슬리 버터, 구운 헤이즐넛, 파르메산 치즈를 올린 파파르델레 파스타 그릇"/>
          <p:cNvSpPr/>
          <p:nvPr>
            <p:ph type="pic" sz="half" idx="22"/>
          </p:nvPr>
        </p:nvSpPr>
        <p:spPr>
          <a:xfrm>
            <a:off x="8128000" y="1342993"/>
            <a:ext cx="4851944" cy="64692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72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7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82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8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/>
          <p:nvPr>
            <p:ph type="title" hasCustomPrompt="1"/>
          </p:nvPr>
        </p:nvSpPr>
        <p:spPr>
          <a:xfrm>
            <a:off x="3245553" y="3539066"/>
            <a:ext cx="9764892" cy="2065868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92" name="슬라이드 번호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100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10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/>
          <p:nvPr>
            <p:ph type="title" hasCustomPrompt="1"/>
          </p:nvPr>
        </p:nvSpPr>
        <p:spPr>
          <a:xfrm>
            <a:off x="3245555" y="2003777"/>
            <a:ext cx="9764890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의제 제목</a:t>
            </a:r>
          </a:p>
        </p:txBody>
      </p:sp>
      <p:sp>
        <p:nvSpPr>
          <p:cNvPr id="109" name="의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의제 부제</a:t>
            </a:r>
          </a:p>
        </p:txBody>
      </p:sp>
      <p:sp>
        <p:nvSpPr>
          <p:cNvPr id="110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6"/>
            </a:lvl1pPr>
            <a:lvl2pPr>
              <a:spcBef>
                <a:spcPts val="1200"/>
              </a:spcBef>
              <a:defRPr b="0" spc="-36"/>
            </a:lvl2pPr>
            <a:lvl3pPr>
              <a:spcBef>
                <a:spcPts val="1200"/>
              </a:spcBef>
              <a:defRPr b="0" spc="-36"/>
            </a:lvl3pPr>
            <a:lvl4pPr>
              <a:spcBef>
                <a:spcPts val="1200"/>
              </a:spcBef>
              <a:defRPr b="0" spc="-36"/>
            </a:lvl4pPr>
            <a:lvl5pPr>
              <a:spcBef>
                <a:spcPts val="1200"/>
              </a:spcBef>
              <a:defRPr b="0" spc="-36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/>
          <p:nvPr>
            <p:ph type="body" sz="quarter" idx="1" hasCustomPrompt="1"/>
          </p:nvPr>
        </p:nvSpPr>
        <p:spPr>
          <a:xfrm>
            <a:off x="3245555" y="3711041"/>
            <a:ext cx="9764890" cy="1721918"/>
          </a:xfrm>
          <a:prstGeom prst="rect">
            <a:avLst/>
          </a:prstGeom>
        </p:spPr>
        <p:txBody>
          <a:bodyPr anchor="ctr"/>
          <a:lstStyle>
            <a:lvl1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/>
          <p:nvPr>
            <p:ph type="body" sz="half" idx="1" hasCustomPrompt="1"/>
          </p:nvPr>
        </p:nvSpPr>
        <p:spPr>
          <a:xfrm>
            <a:off x="3245555" y="2002189"/>
            <a:ext cx="9764890" cy="3218483"/>
          </a:xfrm>
          <a:prstGeom prst="rect">
            <a:avLst/>
          </a:prstGeom>
        </p:spPr>
        <p:txBody>
          <a:bodyPr anchor="b"/>
          <a:lstStyle>
            <a:lvl1pPr algn="ctr" defTabSz="1625559">
              <a:lnSpc>
                <a:spcPct val="80000"/>
              </a:lnSpc>
              <a:defRPr spc="-166" sz="16600"/>
            </a:lvl1pPr>
            <a:lvl2pPr algn="ctr" defTabSz="1625559">
              <a:lnSpc>
                <a:spcPct val="80000"/>
              </a:lnSpc>
              <a:defRPr spc="-166" sz="16600"/>
            </a:lvl2pPr>
            <a:lvl3pPr algn="ctr" defTabSz="1625559">
              <a:lnSpc>
                <a:spcPct val="80000"/>
              </a:lnSpc>
              <a:defRPr spc="-166" sz="16600"/>
            </a:lvl3pPr>
            <a:lvl4pPr algn="ctr" defTabSz="1625559">
              <a:lnSpc>
                <a:spcPct val="80000"/>
              </a:lnSpc>
              <a:defRPr spc="-166" sz="16600"/>
            </a:lvl4pPr>
            <a:lvl5pPr algn="ctr" defTabSz="1625559">
              <a:lnSpc>
                <a:spcPct val="80000"/>
              </a:lnSpc>
              <a:defRPr spc="-166" sz="16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사실 정보"/>
          <p:cNvSpPr txBox="1"/>
          <p:nvPr>
            <p:ph type="body" sz="quarter" idx="21" hasCustomPrompt="1"/>
          </p:nvPr>
        </p:nvSpPr>
        <p:spPr>
          <a:xfrm>
            <a:off x="3245555" y="5196080"/>
            <a:ext cx="9764890" cy="415458"/>
          </a:xfrm>
          <a:prstGeom prst="rect">
            <a:avLst/>
          </a:prstGeom>
        </p:spPr>
        <p:txBody>
          <a:bodyPr lIns="20319" tIns="20319" rIns="20319" bIns="20319"/>
          <a:lstStyle>
            <a:lvl1pPr algn="ctr" defTabSz="363220">
              <a:defRPr sz="2376"/>
            </a:lvl1pPr>
          </a:lstStyle>
          <a:p>
            <a:pPr/>
            <a:r>
              <a:t>사실 정보</a:t>
            </a:r>
          </a:p>
        </p:txBody>
      </p:sp>
      <p:sp>
        <p:nvSpPr>
          <p:cNvPr id="12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/>
          <p:nvPr>
            <p:ph type="body" sz="quarter" idx="21" hasCustomPrompt="1"/>
          </p:nvPr>
        </p:nvSpPr>
        <p:spPr>
          <a:xfrm>
            <a:off x="3789344" y="6268646"/>
            <a:ext cx="8977802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속성</a:t>
            </a:r>
          </a:p>
        </p:txBody>
      </p:sp>
      <p:sp>
        <p:nvSpPr>
          <p:cNvPr id="136" name="본문 첫 번째 줄…"/>
          <p:cNvSpPr txBox="1"/>
          <p:nvPr>
            <p:ph type="body" sz="quarter" idx="1" hasCustomPrompt="1"/>
          </p:nvPr>
        </p:nvSpPr>
        <p:spPr>
          <a:xfrm>
            <a:off x="3488854" y="3719493"/>
            <a:ext cx="9278292" cy="1705014"/>
          </a:xfrm>
          <a:prstGeom prst="rect">
            <a:avLst/>
          </a:prstGeom>
        </p:spPr>
        <p:txBody>
          <a:bodyPr/>
          <a:lstStyle>
            <a:lvl1pPr marL="425948" indent="-313266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25948" indent="1439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25948" indent="6011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25948" indent="10583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25948" indent="15155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볶음밥과 삶은 계란을 넣은 샐러드 그릇과 젓가락"/>
          <p:cNvSpPr/>
          <p:nvPr>
            <p:ph type="pic" sz="quarter" idx="21"/>
          </p:nvPr>
        </p:nvSpPr>
        <p:spPr>
          <a:xfrm>
            <a:off x="9714088" y="1975555"/>
            <a:ext cx="3306268" cy="26443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연어 어묵, 샐러드, 후무스가 든 그릇 "/>
          <p:cNvSpPr/>
          <p:nvPr>
            <p:ph type="pic" sz="quarter" idx="22"/>
          </p:nvPr>
        </p:nvSpPr>
        <p:spPr>
          <a:xfrm>
            <a:off x="8709377" y="3292122"/>
            <a:ext cx="4639735" cy="54000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파슬리 버터, 구운 헤이즐넛, 파르메산 치즈를 올린 파파르델레 파스타 그릇"/>
          <p:cNvSpPr/>
          <p:nvPr>
            <p:ph type="pic" sz="half" idx="23"/>
          </p:nvPr>
        </p:nvSpPr>
        <p:spPr>
          <a:xfrm>
            <a:off x="2647244" y="1744133"/>
            <a:ext cx="7382934" cy="5537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볶음밥과 삶은 계란을 넣은 샐러드 그릇과 젓가락"/>
          <p:cNvSpPr/>
          <p:nvPr>
            <p:ph type="pic" idx="21"/>
          </p:nvPr>
        </p:nvSpPr>
        <p:spPr>
          <a:xfrm>
            <a:off x="2116666" y="-931334"/>
            <a:ext cx="12022668" cy="96181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/>
          <p:nvPr>
            <p:ph type="title" hasCustomPrompt="1"/>
          </p:nvPr>
        </p:nvSpPr>
        <p:spPr>
          <a:xfrm>
            <a:off x="3245553" y="2668440"/>
            <a:ext cx="9764892" cy="20658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b">
            <a:normAutofit fontScale="100000" lnSpcReduction="0"/>
          </a:bodyPr>
          <a:lstStyle/>
          <a:p>
            <a:pPr/>
            <a:r>
              <a:t>프레젠테이션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3243263" y="4734307"/>
            <a:ext cx="9764890" cy="8466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>
            <a:normAutofit fontScale="100000" lnSpcReduction="0"/>
          </a:bodyPr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  <a:ln w="3175">
            <a:miter lim="400000"/>
          </a:ln>
        </p:spPr>
        <p:txBody>
          <a:bodyPr wrap="none" lIns="22577" tIns="22577" rIns="22577" bIns="22577" anchor="b">
            <a:spAutoFit/>
          </a:bodyPr>
          <a:lstStyle>
            <a:lvl1pPr algn="ctr" defTabSz="389466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저자 및 날짜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메디브릿지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메디브릿지</a:t>
            </a:r>
          </a:p>
        </p:txBody>
      </p:sp>
      <p:sp>
        <p:nvSpPr>
          <p:cNvPr id="173" name="영업의 거리를 넘어, 의약품 공급과 발주를 연결하다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영업의 거리를 넘어, 의약품 공급과 발주를 연결하다</a:t>
            </a: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CSO와 약국·병원을 잇는 비대면 제품 탐색·추천·발주 플랫폼</a:t>
            </a: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Product Owner 김민주  |  Scrum Master 최승우  |  Front 임형준  |  Backend 권주현  |  Service Planning 전혜민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문제는 제품 부족이 아니라 ‘연결의 한계’입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문제는 제품 부족이 아니라 ‘연결의 한계’입니다</a:t>
            </a:r>
          </a:p>
        </p:txBody>
      </p:sp>
      <p:sp>
        <p:nvSpPr>
          <p:cNvPr id="178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약국·병원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약국·병원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다양한 제약사의 유사 제품 비교와 신규 제품 탐색이 어렵다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지역에 따라 제품 정보 접근 기회가 달라진다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CSO 운영사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영업사원 1명이 담당할 수 있는 거래처에 한계가 있다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거래처별 수요를 체계적으로 활용하기 어렵다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제약회사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기존 영업망이 닿지 않는 거래처에 제품을 노출하기 어렵다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공통 핵심  |  판매·주문 이력이 영업과 구매 판단에 충분히 활용되지 않는다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셀프서비스 거래 흐름에 추천을 결합합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셀프서비스 거래 흐름에 추천을 결합합니다</a:t>
            </a:r>
          </a:p>
        </p:txBody>
      </p:sp>
      <p:sp>
        <p:nvSpPr>
          <p:cNvPr id="184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핵심 흐름…"/>
          <p:cNvSpPr txBox="1"/>
          <p:nvPr>
            <p:ph type="body" sz="half" idx="1"/>
          </p:nvPr>
        </p:nvSpPr>
        <p:spPr>
          <a:xfrm>
            <a:off x="825500" y="2095499"/>
            <a:ext cx="9652000" cy="5969001"/>
          </a:xfrm>
          <a:prstGeom prst="rect">
            <a:avLst/>
          </a:prstGeom>
        </p:spPr>
        <p:txBody>
          <a:bodyPr/>
          <a:lstStyle/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핵심 흐름</a:t>
            </a:r>
          </a:p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탐색 → 상세 확인 → 발주 → 상태 확인</a:t>
            </a:r>
          </a:p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AI의 MVP 역할</a:t>
            </a:r>
          </a:p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구매 이력이 있으면 가장 자주 산 약효군을 찾고, 아직 구매하지 않은 관련 제품을 추천합니다. 이력이 없으면 인기 제품을 제시합니다.</a:t>
            </a:r>
          </a:p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향후 확장</a:t>
            </a:r>
          </a:p>
          <a:p>
            <a:pPr marL="266700" indent="-266700">
              <a:defRPr sz="210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유사 거래처 · 재주문 시점 · 대체 제품</a:t>
            </a:r>
          </a:p>
        </p:txBody>
      </p:sp>
      <p:pic>
        <p:nvPicPr>
          <p:cNvPr id="186" name="User Interface and-2026-09-03-054358.png" descr="User Interface and-2026-09-03-05435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47500" y="1651000"/>
            <a:ext cx="3048000" cy="7543896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백로그는 가치·의존성·실습 가능성으로 정렬했습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백로그는 가치·의존성·실습 가능성으로 정렬했습니다</a:t>
            </a:r>
          </a:p>
        </p:txBody>
      </p:sp>
      <p:sp>
        <p:nvSpPr>
          <p:cNvPr id="191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1  핵심 가치  |  사용자가 탐색부터 발주까지 끝낼 수 있는가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  핵심 가치  |  사용자가 탐색부터 발주까지 끝낼 수 있는가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2  업무 의존성  |  사용자·제품·주문 데이터가 먼저 존재하는가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3  학습 가치  |  REST, Kafka, 인증 등 MSA 흐름을 경험하는가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4  시간·위험  |  5시간 안에 검증 가능한 크기인가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결론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Sprint 1은 ‘거래 완주’, Sprint 2는 ‘서비스 간 연동과 추천 확장’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print 1 — 사용자가 발주까지 완주하는 MVP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Sprint 1 — 사용자가 발주까지 완주하는 MVP</a:t>
            </a:r>
          </a:p>
        </p:txBody>
      </p:sp>
      <p:sp>
        <p:nvSpPr>
          <p:cNvPr id="197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PRINT GOAL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SPRINT GOAL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로그인 → 의약품 조회 → 발주 신청까지 완료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01 로그인  /login → OAuth2 → /callback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02 목록 조회  GET /courses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03 상세 조회  GET /courses/{id}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04 발주 신청  POST /api/enrollments → PENDING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05 상태 확인  GET /enrollments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Definition of Done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Swagger 응답 성공 · 상태 저장 확인 · 다음 단계에서 조회 가능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print 2 — 결제 이벤트와 추천으로 MSA 경험 확장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Sprint 2 — 결제 이벤트와 추천으로 MSA 경험 확장</a:t>
            </a:r>
          </a:p>
        </p:txBody>
      </p:sp>
      <p:sp>
        <p:nvSpPr>
          <p:cNvPr id="203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구매 승인 → payment-service → Kafka 결제 완료 이벤트 → order-service 상태 반영 → recommend-service 추천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구매 승인 → payment-service → Kafka 결제 완료 이벤트 → order-service 상태 반영 → recommend-service 추천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핵심 구현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결제 완료 이벤트 전달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주문 상태 변경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구매 이력 기반 미구매 제품 추천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상태 의미 정정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ACTIVE = 입고 완료  ✕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ACTIVE = 발주 확정 / 결제 완료  ○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배송·입고 이벤트가 없는 현재 코드에서는 ‘입고 완료’를 확인할 수 없습니다.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업무와 데이터 책임을 기준으로 5개 서비스로 분리했습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업무와 데이터 책임을 기준으로 5개 서비스로 분리했습니다</a:t>
            </a:r>
          </a:p>
        </p:txBody>
      </p:sp>
      <p:sp>
        <p:nvSpPr>
          <p:cNvPr id="209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Web / App  →  API Gateway  →  인증 서버 · Eureka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Web / App  →  API Gateway  →  인증 서버 · Eureka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                         ↓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partner-service  ·  product-service  ·  order-service  ·  payment-service  ·  recommend-service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계정·거래처          의약품 정보          발주·상태             결제·승인               추천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REST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사용자 조회·명령과 서비스 간 동기 통신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Kafka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payment-service ── PaymentCompleted ──▶ order-service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원칙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각 서비스가 자신의 업무 결과 데이터를 소유하고 API 계약·이벤트로 연결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데이터는 사용자·제품·발주·결제의 결과로 남습니다"/>
          <p:cNvSpPr txBox="1"/>
          <p:nvPr>
            <p:ph type="title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데이터는 사용자·제품·발주·결제의 결과로 남습니다</a:t>
            </a:r>
          </a:p>
        </p:txBody>
      </p:sp>
      <p:sp>
        <p:nvSpPr>
          <p:cNvPr id="215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6" name="DBerd.png" descr="DBerd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8500" y="1841500"/>
            <a:ext cx="14852401" cy="70866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프론트엔드는 Gateway를 통해 이 API를 호출합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프론트엔드는 Gateway를 통해 이 API를 호출합니다</a:t>
            </a:r>
          </a:p>
        </p:txBody>
      </p:sp>
      <p:sp>
        <p:nvSpPr>
          <p:cNvPr id="221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POST   /api/users/register        거래처 계정 등록                 201 / user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POST   /api/users/register        거래처 계정 등록                 201 / user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/api/users/me              로그인 사용자 확인              200 / role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/courses                   의약품 목록·카테고리 조회        200 / ACTIVE products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/courses/{id}              의약품 상세 조회                 200 / product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POST   /api/enrollments           발주 신청                        201 / PENDING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/enrollments               내 발주 상태 조회                200 / PENDING·ACTIVE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/api/recommend/{userId}    구매 이력 기반 추천              200 / unpurchased products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※ 기존 템플릿 경로(course, enrollment)는 유지하고 화면·설명에서 의약품/발주 의미로 치환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wagger로 핵심 거래 흐름을 검증했습니다"/>
          <p:cNvSpPr txBox="1"/>
          <p:nvPr>
            <p:ph type="title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Swagger로 핵심 거래 흐름을 검증했습니다</a:t>
            </a:r>
          </a:p>
        </p:txBody>
      </p:sp>
      <p:sp>
        <p:nvSpPr>
          <p:cNvPr id="227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8" name="notion-1.png" descr="notion-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2540000"/>
            <a:ext cx="4442793" cy="2679701"/>
          </a:xfrm>
          <a:prstGeom prst="rect">
            <a:avLst/>
          </a:prstGeom>
          <a:ln w="3175">
            <a:miter lim="400000"/>
          </a:ln>
        </p:spPr>
      </p:pic>
      <p:pic>
        <p:nvPicPr>
          <p:cNvPr id="229" name="notion-2.png" descr="notion-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05500" y="2540000"/>
            <a:ext cx="4443838" cy="3035300"/>
          </a:xfrm>
          <a:prstGeom prst="rect">
            <a:avLst/>
          </a:prstGeom>
          <a:ln w="3175">
            <a:miter lim="400000"/>
          </a:ln>
        </p:spPr>
      </p:pic>
      <p:pic>
        <p:nvPicPr>
          <p:cNvPr id="230" name="notion-4.png" descr="notion-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239499" y="2539999"/>
            <a:ext cx="4458450" cy="2552701"/>
          </a:xfrm>
          <a:prstGeom prst="rect">
            <a:avLst/>
          </a:prstGeom>
          <a:ln w="3175">
            <a:miter lim="400000"/>
          </a:ln>
        </p:spPr>
      </p:pic>
      <p:pic>
        <p:nvPicPr>
          <p:cNvPr id="231" name="notion-5.png" descr="notion-5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238499" y="5969000"/>
            <a:ext cx="4445252" cy="2527300"/>
          </a:xfrm>
          <a:prstGeom prst="rect">
            <a:avLst/>
          </a:prstGeom>
          <a:ln w="3175">
            <a:miter lim="400000"/>
          </a:ln>
        </p:spPr>
      </p:pic>
      <p:pic>
        <p:nvPicPr>
          <p:cNvPr id="232" name="notion-3.png" descr="notion-3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572500" y="5969000"/>
            <a:ext cx="4442887" cy="29337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작게 완주하고, 데이터가 생긴 뒤 확장합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작게 완주하고, 데이터가 생긴 뒤 확장합니다</a:t>
            </a:r>
          </a:p>
        </p:txBody>
      </p:sp>
      <p:sp>
        <p:nvSpPr>
          <p:cNvPr id="237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검증한 것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검증한 것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이해관계자별 Pain Point 정의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로그인–조회–발주 흐름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서비스·데이터 책임 분리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Swagger 기반 API 응답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다음 백로그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유사 거래처 추천 · 추천 이유 제공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재주문 시점 알림 · 재고/납기 기반 대체 제품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메디브릿지는 영업사원을 없애는 서비스가 아니라, CSO가 더 적은 인력으로 더 많은 거래처에 도달하게 하는 운영 플랫폼입니다.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